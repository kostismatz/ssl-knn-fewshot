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69" r:id="rId16"/>
    <p:sldId id="270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84" y="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90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Few-Shot Image Classification</a:t>
            </a:r>
            <a:br>
              <a:rPr dirty="0"/>
            </a:br>
            <a:r>
              <a:rPr dirty="0"/>
              <a:t>with Self-Supervised Backbones &amp; </a:t>
            </a:r>
            <a:r>
              <a:rPr dirty="0" err="1"/>
              <a:t>kNN</a:t>
            </a:r>
            <a:endParaRPr dirty="0"/>
          </a:p>
          <a:p>
            <a:pPr algn="ctr">
              <a:spcBef>
                <a:spcPts val="2000"/>
              </a:spcBef>
              <a:defRPr sz="1800">
                <a:solidFill>
                  <a:srgbClr val="A5B4FC"/>
                </a:solidFill>
                <a:latin typeface="Segoe UI"/>
              </a:defRPr>
            </a:pPr>
            <a:r>
              <a:rPr dirty="0"/>
              <a:t>Can frozen SSL representations enable competitive classification without any fine-tuning?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389120"/>
            <a:ext cx="10698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Kostis </a:t>
            </a:r>
            <a:r>
              <a:rPr lang="en-US" dirty="0" err="1"/>
              <a:t>Matzorakis</a:t>
            </a:r>
            <a:r>
              <a:rPr dirty="0"/>
              <a:t>  ·  </a:t>
            </a:r>
            <a:r>
              <a:rPr lang="en-US" dirty="0"/>
              <a:t>George Manthos </a:t>
            </a:r>
            <a:r>
              <a:rPr dirty="0"/>
              <a:t>·  </a:t>
            </a:r>
            <a:r>
              <a:rPr lang="en-US" dirty="0"/>
              <a:t>Spiros Batziopoulos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Why Few-Shot + Self-Supervised?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669280" cy="28335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800">
                <a:solidFill>
                  <a:srgbClr val="2D2D44"/>
                </a:solidFill>
                <a:latin typeface="Segoe UI"/>
              </a:defRPr>
            </a:pPr>
            <a:r>
              <a:rPr sz="1800" b="1" dirty="0">
                <a:solidFill>
                  <a:srgbClr val="2D2D44"/>
                </a:solidFill>
                <a:latin typeface="Segoe UI"/>
              </a:rPr>
              <a:t>Labelling is expensive:</a:t>
            </a:r>
            <a:r>
              <a:rPr sz="1800" b="0" dirty="0">
                <a:solidFill>
                  <a:srgbClr val="2D2D44"/>
                </a:solidFill>
                <a:latin typeface="Segoe UI"/>
              </a:rPr>
              <a:t> Medical imaging, satellite data, and rare species often have &lt;10 labelled samples per class.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800">
                <a:solidFill>
                  <a:srgbClr val="2D2D44"/>
                </a:solidFill>
                <a:latin typeface="Segoe UI"/>
              </a:defRPr>
            </a:pPr>
            <a:r>
              <a:rPr sz="1800" b="1" dirty="0">
                <a:solidFill>
                  <a:srgbClr val="2D2D44"/>
                </a:solidFill>
                <a:latin typeface="Segoe UI"/>
              </a:rPr>
              <a:t>Self-supervised learning (SSL)</a:t>
            </a:r>
            <a:r>
              <a:rPr sz="1800" b="0" dirty="0">
                <a:solidFill>
                  <a:srgbClr val="2D2D44"/>
                </a:solidFill>
                <a:latin typeface="Segoe UI"/>
              </a:rPr>
              <a:t> trains powerful visual features from </a:t>
            </a:r>
            <a:r>
              <a:rPr sz="1800" b="0" dirty="0" err="1">
                <a:solidFill>
                  <a:srgbClr val="2D2D44"/>
                </a:solidFill>
                <a:latin typeface="Segoe UI"/>
              </a:rPr>
              <a:t>unlabelled</a:t>
            </a:r>
            <a:r>
              <a:rPr sz="1800" b="0" dirty="0">
                <a:solidFill>
                  <a:srgbClr val="2D2D44"/>
                </a:solidFill>
                <a:latin typeface="Segoe UI"/>
              </a:rPr>
              <a:t> data alone.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800">
                <a:solidFill>
                  <a:srgbClr val="2D2D44"/>
                </a:solidFill>
                <a:latin typeface="Segoe UI"/>
              </a:defRPr>
            </a:pPr>
            <a:r>
              <a:rPr sz="1800" b="1" dirty="0">
                <a:solidFill>
                  <a:srgbClr val="2D2D44"/>
                </a:solidFill>
                <a:latin typeface="Segoe UI"/>
              </a:rPr>
              <a:t>Key question:</a:t>
            </a:r>
            <a:r>
              <a:rPr sz="1800" b="0" dirty="0">
                <a:solidFill>
                  <a:srgbClr val="2D2D44"/>
                </a:solidFill>
                <a:latin typeface="Segoe UI"/>
              </a:rPr>
              <a:t> Can SSL features already separate classes well enough that a simple </a:t>
            </a:r>
            <a:r>
              <a:rPr sz="1800" b="0" dirty="0" err="1">
                <a:solidFill>
                  <a:srgbClr val="2D2D44"/>
                </a:solidFill>
                <a:latin typeface="Segoe UI"/>
              </a:rPr>
              <a:t>kNN</a:t>
            </a:r>
            <a:r>
              <a:rPr sz="1800" b="0" dirty="0">
                <a:solidFill>
                  <a:srgbClr val="2D2D44"/>
                </a:solidFill>
                <a:latin typeface="Segoe UI"/>
              </a:rPr>
              <a:t> classifier works with no gradient updates?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645920"/>
            <a:ext cx="4389120" cy="2011680"/>
          </a:xfrm>
          <a:prstGeom prst="roundRect">
            <a:avLst/>
          </a:prstGeom>
          <a:solidFill>
            <a:srgbClr val="F5F7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0" y="18288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361EE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1400">
                <a:solidFill>
                  <a:srgbClr val="2D2D44"/>
                </a:solidFill>
                <a:latin typeface="Segoe UI"/>
              </a:defRPr>
            </a:pPr>
            <a:r>
              <a:t>learnable parameters in our classifier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931920"/>
            <a:ext cx="4389120" cy="201168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41148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576C"/>
                </a:solidFill>
                <a:latin typeface="Segoe UI"/>
              </a:defRPr>
            </a:pPr>
            <a:r>
              <a:t>0</a:t>
            </a:r>
          </a:p>
          <a:p>
            <a:pPr algn="ctr">
              <a:defRPr sz="1400">
                <a:solidFill>
                  <a:srgbClr val="2D2D44"/>
                </a:solidFill>
                <a:latin typeface="Segoe UI"/>
              </a:defRPr>
            </a:pPr>
            <a:r>
              <a:t>gradient updates on target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System Pipeline</a:t>
            </a:r>
          </a:p>
        </p:txBody>
      </p:sp>
      <p:pic>
        <p:nvPicPr>
          <p:cNvPr id="4" name="Picture 3" descr="syste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904" y="1463040"/>
            <a:ext cx="685800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297680"/>
            <a:ext cx="1737360" cy="914400"/>
          </a:xfrm>
          <a:prstGeom prst="roundRect">
            <a:avLst/>
          </a:prstGeom>
          <a:solidFill>
            <a:srgbClr val="4361EE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CIFAR-10/100</a:t>
            </a:r>
            <a:br/>
            <a:r>
              <a:t>32×32 RGB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5262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361E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4297680"/>
            <a:ext cx="1737360" cy="914400"/>
          </a:xfrm>
          <a:prstGeom prst="roundRect">
            <a:avLst/>
          </a:prstGeom>
          <a:solidFill>
            <a:srgbClr val="4361EE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71800" y="4389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Frozen ViT-S</a:t>
            </a:r>
            <a:br/>
            <a:r>
              <a:t>SSL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45262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361E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4297680"/>
            <a:ext cx="1737360" cy="914400"/>
          </a:xfrm>
          <a:prstGeom prst="roundRect">
            <a:avLst/>
          </a:prstGeom>
          <a:solidFill>
            <a:srgbClr val="4361EE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0" y="4389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Features</a:t>
            </a:r>
            <a:br/>
            <a:r>
              <a:t>[CLS] / MeanPool</a:t>
            </a:r>
            <a:br/>
            <a:r>
              <a:t>L2-Norm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5262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361E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297680"/>
            <a:ext cx="1737360" cy="914400"/>
          </a:xfrm>
          <a:prstGeom prst="roundRect">
            <a:avLst/>
          </a:prstGeom>
          <a:solidFill>
            <a:srgbClr val="4361EE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52360" y="4389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kNN Vote</a:t>
            </a:r>
            <a:br/>
            <a:r>
              <a:t>k=1,5,20</a:t>
            </a:r>
            <a:br/>
            <a:r>
              <a:t>N shots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45262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361EE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4297680"/>
            <a:ext cx="1737360" cy="914400"/>
          </a:xfrm>
          <a:prstGeom prst="roundRect">
            <a:avLst/>
          </a:prstGeom>
          <a:solidFill>
            <a:srgbClr val="11998E"/>
          </a:solidFill>
          <a:ln w="19050">
            <a:solidFill>
              <a:srgbClr val="11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43891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Accuracy</a:t>
            </a:r>
            <a:br/>
            <a:r>
              <a:t>Macro-F1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E6E82"/>
                </a:solidFill>
                <a:latin typeface="Segoe UI"/>
              </a:defRPr>
            </a:pPr>
            <a:r>
              <a:t>All backbone weights are frozen. Classification accuracy reflects purely the geometry of the pretrained feature space.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Backbone Models (All ViT-Small)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SSL Objective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Pretrain Data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Patch Size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 ViT-S/16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Self-distillation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ImageNet-1K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ViT-S/14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Self-dist. + MIM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LVD-142M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ViT-S/14 (reg)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Self-dist. + MIM + Registers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LVD-142M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DINOv3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Self-dist. (distilled)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LVD-1689M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MoCo v3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Momentum contrastive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ImageNet-1K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iBOT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Self-dist. + MIM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ImageNet-1K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AttMask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Attention-guided MIM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ImageNet-1K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389120"/>
            <a:ext cx="10725912" cy="1645920"/>
          </a:xfrm>
          <a:prstGeom prst="roundRect">
            <a:avLst/>
          </a:prstGeom>
          <a:solidFill>
            <a:srgbClr val="F5F7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Why these seven?</a:t>
            </a:r>
            <a:r>
              <a:rPr sz="1500" b="0">
                <a:solidFill>
                  <a:srgbClr val="2D2D44"/>
                </a:solidFill>
                <a:latin typeface="Segoe UI"/>
              </a:rPr>
              <a:t> Same ViT-Small capacity (~22M params) → differences in accuracy are due entirely to the </a:t>
            </a:r>
            <a:r>
              <a:rPr sz="1500" b="1">
                <a:solidFill>
                  <a:srgbClr val="2D2D44"/>
                </a:solidFill>
                <a:latin typeface="Segoe UI"/>
              </a:rPr>
              <a:t>pretraining objective</a:t>
            </a:r>
            <a:r>
              <a:rPr sz="1500" b="0">
                <a:solidFill>
                  <a:srgbClr val="2D2D44"/>
                </a:solidFill>
                <a:latin typeface="Segoe UI"/>
              </a:rPr>
              <a:t>, not model size.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Methodology — kNN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61EE"/>
                </a:solidFill>
                <a:latin typeface="Segoe UI"/>
              </a:defRPr>
            </a:pPr>
            <a:r>
              <a:t>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Bicubic upsample 32×32 → 224×224 on GPU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ImageNet normalisation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Two pooling strategies:</a:t>
            </a:r>
          </a:p>
          <a:p>
            <a:pPr lvl="1"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D2D44"/>
                </a:solidFill>
                <a:latin typeface="Segoe UI"/>
              </a:defRPr>
            </a:pPr>
            <a:r>
              <a:rPr sz="1300" b="1">
                <a:solidFill>
                  <a:srgbClr val="2D2D44"/>
                </a:solidFill>
                <a:latin typeface="Segoe UI"/>
              </a:rPr>
              <a:t>CLS token</a:t>
            </a:r>
            <a:r>
              <a:rPr sz="1300" b="0">
                <a:solidFill>
                  <a:srgbClr val="2D2D44"/>
                </a:solidFill>
                <a:latin typeface="Segoe UI"/>
              </a:rPr>
              <a:t> — global summary</a:t>
            </a:r>
          </a:p>
          <a:p>
            <a:pPr lvl="1">
              <a:lnSpc>
                <a:spcPct val="120000"/>
              </a:lnSpc>
              <a:spcAft>
                <a:spcPts val="800"/>
              </a:spcAft>
              <a:defRPr sz="1300">
                <a:solidFill>
                  <a:srgbClr val="2D2D44"/>
                </a:solidFill>
                <a:latin typeface="Segoe UI"/>
              </a:defRPr>
            </a:pPr>
            <a:r>
              <a:rPr sz="1300" b="1">
                <a:solidFill>
                  <a:srgbClr val="2D2D44"/>
                </a:solidFill>
                <a:latin typeface="Segoe UI"/>
              </a:rPr>
              <a:t>Mean pool</a:t>
            </a:r>
            <a:r>
              <a:rPr sz="1300" b="0">
                <a:solidFill>
                  <a:srgbClr val="2D2D44"/>
                </a:solidFill>
                <a:latin typeface="Segoe UI"/>
              </a:rPr>
              <a:t> — avg of spatial patches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L2 normalisation → cosine sim = dot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361EE"/>
                </a:solidFill>
                <a:latin typeface="Segoe UI"/>
              </a:defRPr>
            </a:pPr>
            <a:r>
              <a:t>DINO-style Weighted kNN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03120"/>
            <a:ext cx="5029200" cy="109728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2860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2D44"/>
                </a:solidFill>
                <a:latin typeface="Courier New"/>
              </a:defRPr>
            </a:pPr>
            <a:r>
              <a:t>ŷ = argmax_c Σ_{i ∈ N_k} exp(sim(x, x_i) / τ) · 𝟙[y_i = c]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50292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Temperature </a:t>
            </a:r>
            <a:r>
              <a:rPr sz="1500" b="1">
                <a:solidFill>
                  <a:srgbClr val="2D2D44"/>
                </a:solidFill>
                <a:latin typeface="Segoe UI"/>
              </a:rPr>
              <a:t>τ = 0.07</a:t>
            </a:r>
            <a:r>
              <a:rPr sz="1500" b="0">
                <a:solidFill>
                  <a:srgbClr val="2D2D44"/>
                </a:solidFill>
                <a:latin typeface="Segoe UI"/>
              </a:rPr>
              <a:t> (sharpens similarity)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Fully vectorised via `scatter_add`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No Python loops over test samples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Experimental Grid — 1,764 Conditions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377440" cy="228600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61EE"/>
                </a:solidFill>
                <a:latin typeface="Segoe UI"/>
              </a:defRPr>
            </a:pPr>
            <a:r>
              <a:rPr dirty="0"/>
              <a:t>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286000"/>
            <a:ext cx="1828800" cy="1828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2D44"/>
                </a:solidFill>
                <a:latin typeface="Segoe UI"/>
              </a:defRPr>
            </a:pPr>
            <a:r>
              <a:t>CIFAR-10 (10 classes)</a:t>
            </a:r>
            <a:br/>
            <a:r>
              <a:t>CIFAR-100 (100 classes)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645920"/>
            <a:ext cx="2377440" cy="228600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02736" y="178308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61EE"/>
                </a:solidFill>
                <a:latin typeface="Segoe UI"/>
              </a:defRPr>
            </a:pPr>
            <a:r>
              <a:rPr dirty="0"/>
              <a:t> Backbones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85616" y="2286000"/>
            <a:ext cx="1828800" cy="1828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02736" y="23774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2D44"/>
                </a:solidFill>
                <a:latin typeface="Segoe UI"/>
              </a:defRPr>
            </a:pPr>
            <a:r>
              <a:t>7 SSL models</a:t>
            </a:r>
            <a:br/>
            <a:r>
              <a:t>(DINO, DINOv2, DINOv2-reg, DINOv3, MoCo v3, iBOT, AttMask)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645920"/>
            <a:ext cx="2377440" cy="228600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78308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61EE"/>
                </a:solidFill>
                <a:latin typeface="Segoe UI"/>
              </a:defRPr>
            </a:pPr>
            <a:r>
              <a:rPr dirty="0"/>
              <a:t>Shots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2286000"/>
            <a:ext cx="1828800" cy="1828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3774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2D44"/>
                </a:solidFill>
                <a:latin typeface="Segoe UI"/>
              </a:defRPr>
            </a:pPr>
            <a:r>
              <a:t>1, 2, 5, 10, 20, 50, 100</a:t>
            </a:r>
            <a:br/>
            <a:r>
              <a:t>per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1645920"/>
            <a:ext cx="2377440" cy="228600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62288" y="178308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361EE"/>
                </a:solidFill>
                <a:latin typeface="Segoe UI"/>
              </a:defRPr>
            </a:pPr>
            <a:r>
              <a:rPr dirty="0" err="1"/>
              <a:t>Hyperparams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9345168" y="2286000"/>
            <a:ext cx="1828800" cy="18288"/>
          </a:xfrm>
          <a:prstGeom prst="rect">
            <a:avLst/>
          </a:prstGeom>
          <a:solidFill>
            <a:srgbClr val="436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62288" y="237744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2D2D44"/>
                </a:solidFill>
                <a:latin typeface="Segoe UI"/>
              </a:defRPr>
            </a:pPr>
            <a:r>
              <a:t>k ∈ {1, 5, 20}</a:t>
            </a:r>
            <a:br/>
            <a:r>
              <a:t>Pool: CLS / MeanPool</a:t>
            </a:r>
            <a:br/>
            <a:r>
              <a:t>3 seeds per config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10725912" cy="164592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576C"/>
                </a:solidFill>
                <a:latin typeface="Segoe UI"/>
              </a:defRPr>
            </a:pPr>
            <a:r>
              <a:t>7 models × 2 datasets × 2 pooling × 7 N × 3 k × 3 seeds = 1,764 evaluated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Results</a:t>
            </a:r>
          </a:p>
          <a:p>
            <a:pPr algn="ctr">
              <a:spcBef>
                <a:spcPts val="1500"/>
              </a:spcBef>
              <a:defRPr sz="2200">
                <a:solidFill>
                  <a:srgbClr val="E0E7FF"/>
                </a:solidFill>
                <a:latin typeface="Segoe UI"/>
              </a:defRPr>
            </a:pPr>
            <a:r>
              <a:t>How do the backbones compare?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Accuracy vs. Shots — All Models (CLS, k=5)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7995" y="1645920"/>
            <a:ext cx="4754880" cy="2775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 dirty="0">
                <a:solidFill>
                  <a:srgbClr val="2D2D44"/>
                </a:solidFill>
                <a:latin typeface="Segoe UI"/>
              </a:rPr>
              <a:t>DINOv2 variants dominate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at every shot count on both datasets.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 dirty="0">
                <a:solidFill>
                  <a:srgbClr val="2D2D44"/>
                </a:solidFill>
                <a:latin typeface="Segoe UI"/>
              </a:rPr>
              <a:t>MoCo v3 lags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by 50+ percentage points</a:t>
            </a:r>
            <a:r>
              <a:rPr lang="en-US" sz="1500" b="0" dirty="0">
                <a:solidFill>
                  <a:srgbClr val="2D2D44"/>
                </a:solidFill>
                <a:latin typeface="Segoe UI"/>
              </a:rPr>
              <a:t>,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contrastive pretraining doesn't form semantic clusters suitable for </a:t>
            </a:r>
            <a:r>
              <a:rPr sz="1500" b="0" dirty="0" err="1">
                <a:solidFill>
                  <a:srgbClr val="2D2D44"/>
                </a:solidFill>
                <a:latin typeface="Segoe UI"/>
              </a:rPr>
              <a:t>kNN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classification.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 dirty="0">
                <a:solidFill>
                  <a:srgbClr val="2D2D44"/>
                </a:solidFill>
                <a:latin typeface="Segoe UI"/>
              </a:rPr>
              <a:t>Log-linear scaling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: steepest gains are between 1→10 shots, with diminishing returns after.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 dirty="0">
                <a:solidFill>
                  <a:srgbClr val="2D2D44"/>
                </a:solidFill>
                <a:latin typeface="Segoe UI"/>
              </a:rPr>
              <a:t>Variance collapses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: standard deviation shaded bands become extremely narrow beyond 20 shots.</a:t>
            </a:r>
          </a:p>
        </p:txBody>
      </p:sp>
      <p:pic>
        <p:nvPicPr>
          <p:cNvPr id="6" name="Picture 5" descr="all_models_cl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645920"/>
            <a:ext cx="581215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rPr dirty="0"/>
              <a:t>CIFAR-10 Results</a:t>
            </a:r>
            <a:r>
              <a:rPr lang="en-US" dirty="0"/>
              <a:t>: </a:t>
            </a:r>
            <a:r>
              <a:rPr dirty="0"/>
              <a:t>CLS Token (k=5)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 ViT-S/16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53.2 ± 5.7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76.2 ± 2.0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80.1 ± 1.3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88.4 ± 0.5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ViT-S/14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66.0 ± 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87.0 ±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89.6 ±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94.7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(reg)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68.2 ± 5.8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87.8 ± 2.0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90.7 ± 0.8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94.6 ± 0.0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DINOv3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56.5 ± 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83.5 ± 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86.8 ±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93.3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MoCo v3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21.8 ± 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30.5 ± 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33.5 ±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43.9 ±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7377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iBOT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57.6 ± 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79.6 ± 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83.1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90.4 ±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4603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AttMask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56.7 ±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78.3 ± 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82.0 ±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90.4 ±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83073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645920"/>
            <a:ext cx="38404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DINOv2-reg</a:t>
            </a:r>
            <a:r>
              <a:rPr sz="1500" b="0">
                <a:solidFill>
                  <a:srgbClr val="2D2D44"/>
                </a:solidFill>
                <a:latin typeface="Segoe UI"/>
              </a:rPr>
              <a:t> is superior at low shot counts (1, 5, 10 shots).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94.7% accuracy</a:t>
            </a:r>
            <a:r>
              <a:rPr sz="1500" b="0">
                <a:solidFill>
                  <a:srgbClr val="2D2D44"/>
                </a:solidFill>
                <a:latin typeface="Segoe UI"/>
              </a:rPr>
              <a:t> is achieved with only 100 shots per class.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MoCo v3</a:t>
            </a:r>
            <a:r>
              <a:rPr sz="1500" b="0">
                <a:solidFill>
                  <a:srgbClr val="2D2D44"/>
                </a:solidFill>
                <a:latin typeface="Segoe UI"/>
              </a:rPr>
              <a:t> performance is extremely poor, failing to represent CIFAR-10 classes cleanly.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5912" cy="12801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1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074920"/>
            <a:ext cx="103601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D2D44"/>
                </a:solidFill>
                <a:latin typeface="Segoe UI"/>
              </a:defRPr>
            </a:pPr>
            <a:r>
              <a:rPr sz="1600" b="0" dirty="0">
                <a:solidFill>
                  <a:srgbClr val="2D2D44"/>
                </a:solidFill>
                <a:latin typeface="Segoe UI"/>
              </a:rPr>
              <a:t> </a:t>
            </a:r>
            <a:r>
              <a:rPr sz="1600" b="1" dirty="0">
                <a:solidFill>
                  <a:srgbClr val="2D2D44"/>
                </a:solidFill>
                <a:latin typeface="Segoe UI"/>
              </a:rPr>
              <a:t>DINOv2 achieves 95.1% at 100-shot (k=20)</a:t>
            </a:r>
            <a:r>
              <a:rPr sz="1600" b="0" dirty="0">
                <a:solidFill>
                  <a:srgbClr val="2D2D44"/>
                </a:solidFill>
                <a:latin typeface="Segoe UI"/>
              </a:rPr>
              <a:t>  matching a supervised ResNet-50 trained on </a:t>
            </a:r>
            <a:r>
              <a:rPr sz="1600" b="1" dirty="0">
                <a:solidFill>
                  <a:srgbClr val="2D2D44"/>
                </a:solidFill>
                <a:latin typeface="Segoe UI"/>
              </a:rPr>
              <a:t>50× more labels</a:t>
            </a:r>
            <a:r>
              <a:rPr sz="1600" b="0" dirty="0">
                <a:solidFill>
                  <a:srgbClr val="2D2D4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CIFAR-100 Results — CLS Token (k=5)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583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 ViT-S/16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32.3 ± 0.6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50.5 ± 0.3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56.1 ± 0.6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70.3 ± 0.3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ViT-S/14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48.1 ±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65.5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70.4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80.6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(reg)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49.5 ± 2.5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67.7 ± 0.5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t>71.4 ± 0.3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80.2 ± 0.3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DINOv3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41.5 ± 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60.9 ±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66.1 ± 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78.8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MoCo v3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7.2 ± 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12.2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14.6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24.5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4053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iBOT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34.6 ±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52.2 ±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57.8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71.7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9927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AttMask ViT-S/16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35.4 ±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53.9 ± 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58.9 ± 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72.2 ±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75629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645920"/>
            <a:ext cx="38404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CIFAR-100 is 10× harder</a:t>
            </a:r>
            <a:r>
              <a:rPr sz="1500" b="0">
                <a:solidFill>
                  <a:srgbClr val="2D2D44"/>
                </a:solidFill>
                <a:latin typeface="Segoe UI"/>
              </a:rPr>
              <a:t> (100 classes, finer-grained distinctions).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DINOv2 achieves </a:t>
            </a:r>
            <a:r>
              <a:rPr sz="1500" b="1">
                <a:solidFill>
                  <a:srgbClr val="2D2D44"/>
                </a:solidFill>
                <a:latin typeface="Segoe UI"/>
              </a:rPr>
              <a:t>+82pp gain</a:t>
            </a:r>
            <a:r>
              <a:rPr sz="1500" b="0">
                <a:solidFill>
                  <a:srgbClr val="2D2D44"/>
                </a:solidFill>
                <a:latin typeface="Segoe UI"/>
              </a:rPr>
              <a:t> over random (1%) at 100 shots.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Model ranking is </a:t>
            </a:r>
            <a:r>
              <a:rPr sz="1500" b="1">
                <a:solidFill>
                  <a:srgbClr val="2D2D44"/>
                </a:solidFill>
                <a:latin typeface="Segoe UI"/>
              </a:rPr>
              <a:t>perfectly preserved</a:t>
            </a:r>
            <a:r>
              <a:rPr sz="1500" b="0">
                <a:solidFill>
                  <a:srgbClr val="2D2D44"/>
                </a:solidFill>
                <a:latin typeface="Segoe UI"/>
              </a:rPr>
              <a:t> across both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CLS Token vs. Mean Pooling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4937760" cy="1188720"/>
          </a:xfrm>
          <a:prstGeom prst="roundRect">
            <a:avLst/>
          </a:prstGeom>
          <a:solidFill>
            <a:srgbClr val="F5F7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29400" y="1737360"/>
            <a:ext cx="466344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361EE"/>
                </a:solidFill>
                <a:latin typeface="Segoe UI"/>
              </a:defRPr>
            </a:pPr>
            <a:r>
              <a:rPr dirty="0"/>
              <a:t>DINOv1: CLS wins big</a:t>
            </a:r>
          </a:p>
          <a:p>
            <a:pPr>
              <a:spcBef>
                <a:spcPts val="400"/>
              </a:spcBef>
              <a:defRPr sz="1100">
                <a:solidFill>
                  <a:srgbClr val="2D2D44"/>
                </a:solidFill>
                <a:latin typeface="Segoe UI"/>
              </a:defRPr>
            </a:pPr>
            <a:r>
              <a:rPr dirty="0"/>
              <a:t>88.4% (CLS) vs 64.4% (Mean)</a:t>
            </a:r>
            <a:r>
              <a:rPr lang="en-US" dirty="0"/>
              <a:t>:</a:t>
            </a:r>
            <a:r>
              <a:rPr dirty="0"/>
              <a:t> 24pp gap. CLS is explicitly </a:t>
            </a:r>
            <a:r>
              <a:rPr dirty="0" err="1"/>
              <a:t>optimised</a:t>
            </a:r>
            <a:r>
              <a:rPr dirty="0"/>
              <a:t> during pretraining.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017520"/>
            <a:ext cx="4937760" cy="11887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1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3108960"/>
            <a:ext cx="466344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998E"/>
                </a:solidFill>
                <a:latin typeface="Segoe UI"/>
              </a:defRPr>
            </a:pPr>
            <a:r>
              <a:rPr dirty="0"/>
              <a:t>DINOv2: Gap closes</a:t>
            </a:r>
          </a:p>
          <a:p>
            <a:pPr>
              <a:spcBef>
                <a:spcPts val="400"/>
              </a:spcBef>
              <a:defRPr sz="1100">
                <a:solidFill>
                  <a:srgbClr val="2D2D44"/>
                </a:solidFill>
                <a:latin typeface="Segoe UI"/>
              </a:defRPr>
            </a:pPr>
            <a:r>
              <a:rPr dirty="0"/>
              <a:t>94.7% (CLS) vs 92.1% (Mean)</a:t>
            </a:r>
            <a:r>
              <a:rPr lang="en-US" dirty="0"/>
              <a:t>:</a:t>
            </a:r>
            <a:r>
              <a:rPr dirty="0"/>
              <a:t> 2.6pp gap. MIM trains individual patch tokens to carry semantic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4389120"/>
            <a:ext cx="4937760" cy="1188720"/>
          </a:xfrm>
          <a:prstGeom prst="roundRect">
            <a:avLst/>
          </a:prstGeom>
          <a:solidFill>
            <a:srgbClr val="FFF5F5"/>
          </a:solidFill>
          <a:ln w="19050">
            <a:solidFill>
              <a:srgbClr val="F55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44805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576C"/>
                </a:solidFill>
                <a:latin typeface="Segoe UI"/>
              </a:defRPr>
            </a:pPr>
            <a:r>
              <a:t>MoCo v3: Both poor</a:t>
            </a:r>
          </a:p>
          <a:p>
            <a:pPr>
              <a:spcBef>
                <a:spcPts val="400"/>
              </a:spcBef>
              <a:defRPr sz="1100">
                <a:solidFill>
                  <a:srgbClr val="2D2D44"/>
                </a:solidFill>
                <a:latin typeface="Segoe UI"/>
              </a:defRPr>
            </a:pPr>
            <a:r>
              <a:t>~44% either way. Feature representation quality, not pooling method, is the bottleneck.</a:t>
            </a:r>
          </a:p>
        </p:txBody>
      </p:sp>
      <p:pic>
        <p:nvPicPr>
          <p:cNvPr id="11" name="Picture 10" descr="pooling_comparison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Effect of k (Number of Neighbours)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k has a moderate effect</a:t>
            </a:r>
            <a:r>
              <a:rPr sz="1500" b="0">
                <a:solidFill>
                  <a:srgbClr val="2D2D44"/>
                </a:solidFill>
                <a:latin typeface="Segoe UI"/>
              </a:rPr>
              <a:t>: k=1→k=20 improves classification accuracy by 1–5pp.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DINOv2 is highly robust to k</a:t>
            </a:r>
            <a:r>
              <a:rPr sz="1500" b="0">
                <a:solidFill>
                  <a:srgbClr val="2D2D44"/>
                </a:solidFill>
                <a:latin typeface="Segoe UI"/>
              </a:rPr>
              <a:t>: performance stays ≥93% for all tested k values on CIFAR-10.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1">
                <a:solidFill>
                  <a:srgbClr val="2D2D44"/>
                </a:solidFill>
                <a:latin typeface="Segoe UI"/>
              </a:rPr>
              <a:t>MoCo v3 benefits more from larger k</a:t>
            </a:r>
            <a:r>
              <a:rPr sz="1500" b="0">
                <a:solidFill>
                  <a:srgbClr val="2D2D44"/>
                </a:solidFill>
                <a:latin typeface="Segoe UI"/>
              </a:rPr>
              <a:t>: its less structured feature space has noisy clusters, so majority voting helps reduce noise.</a:t>
            </a:r>
          </a:p>
        </p:txBody>
      </p:sp>
      <p:pic>
        <p:nvPicPr>
          <p:cNvPr id="6" name="Picture 5" descr="k_sensitivity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Gain Over Random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828800"/>
            <a:ext cx="4846320" cy="1737360"/>
          </a:xfrm>
          <a:prstGeom prst="roundRect">
            <a:avLst/>
          </a:prstGeom>
          <a:solidFill>
            <a:srgbClr val="F5F7FF"/>
          </a:solidFill>
          <a:ln w="19050">
            <a:solidFill>
              <a:srgbClr val="436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20116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4361EE"/>
                </a:solidFill>
                <a:latin typeface="Segoe UI"/>
              </a:defRPr>
            </a:pPr>
            <a:r>
              <a:t>+85pp</a:t>
            </a:r>
          </a:p>
          <a:p>
            <a:pPr>
              <a:defRPr sz="1200" b="1">
                <a:solidFill>
                  <a:srgbClr val="2D2D44"/>
                </a:solidFill>
                <a:latin typeface="Segoe UI"/>
              </a:defRPr>
            </a:pPr>
            <a:r>
              <a:t>DINOv2 gain on CIFAR-10 at 100-shot (vs 10% random)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840480"/>
            <a:ext cx="4846320" cy="17373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1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40233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1998E"/>
                </a:solidFill>
                <a:latin typeface="Segoe UI"/>
              </a:defRPr>
            </a:pPr>
            <a:r>
              <a:t>+82pp</a:t>
            </a:r>
          </a:p>
          <a:p>
            <a:pPr>
              <a:defRPr sz="1200" b="1">
                <a:solidFill>
                  <a:srgbClr val="2D2D44"/>
                </a:solidFill>
                <a:latin typeface="Segoe UI"/>
              </a:defRPr>
            </a:pPr>
            <a:r>
              <a:t>DINOv2 gain on CIFAR-100 at 100-shot (vs 1% random)</a:t>
            </a:r>
          </a:p>
        </p:txBody>
      </p:sp>
      <p:pic>
        <p:nvPicPr>
          <p:cNvPr id="9" name="Picture 8" descr="gain_over_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1E90FF"/>
                </a:solidFill>
                <a:latin typeface="Segoe UI" panose="020B0502040204020203"/>
              </a:defRPr>
            </a:pPr>
            <a:r>
              <a:t>Key Findings, Mechanisms &amp; Literature</a:t>
            </a:r>
          </a:p>
          <a:p>
            <a:pPr>
              <a:spcBef>
                <a:spcPts val="400"/>
              </a:spcBef>
              <a:defRPr sz="1400">
                <a:solidFill>
                  <a:srgbClr val="6E6E82"/>
                </a:solidFill>
                <a:latin typeface="Segoe UI" panose="020B0502040204020203"/>
              </a:defRPr>
            </a:pPr>
            <a:r>
              <a:t>A consolidated view of self-supervised representation geometry and empirical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47288" cy="493776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3172968" cy="34671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E90FF"/>
                </a:solidFill>
                <a:latin typeface="Segoe UI" panose="020B0502040204020203"/>
              </a:defRPr>
            </a:pPr>
            <a:r>
              <a:rPr lang="en-US" dirty="0"/>
              <a:t>   </a:t>
            </a:r>
            <a:r>
              <a:rPr dirty="0"/>
              <a:t>CORE FINDINGS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Key Observations:</a:t>
            </a:r>
          </a:p>
          <a:p>
            <a:pPr lvl="1">
              <a:lnSpc>
                <a:spcPct val="115000"/>
              </a:lnSpc>
              <a:spcAft>
                <a:spcPts val="400"/>
              </a:spcAft>
            </a:pPr>
            <a:r>
              <a:rPr sz="1000" b="1" dirty="0">
                <a:solidFill>
                  <a:srgbClr val="2D2D44"/>
                </a:solidFill>
                <a:latin typeface="Segoe UI" panose="020B0502040204020203"/>
              </a:rPr>
              <a:t>DINOv2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achieves best performance across all shot regimes</a:t>
            </a:r>
          </a:p>
          <a:p>
            <a:pPr lvl="1">
              <a:lnSpc>
                <a:spcPct val="115000"/>
              </a:lnSpc>
              <a:spcAft>
                <a:spcPts val="400"/>
              </a:spcAft>
            </a:pPr>
            <a:r>
              <a:rPr sz="1000" b="1" dirty="0">
                <a:solidFill>
                  <a:srgbClr val="2D2D44"/>
                </a:solidFill>
                <a:latin typeface="Segoe UI" panose="020B0502040204020203"/>
              </a:rPr>
              <a:t>DINOv3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improves scaling but not </a:t>
            </a:r>
            <a:r>
              <a:rPr sz="1000" b="0" dirty="0" err="1">
                <a:solidFill>
                  <a:srgbClr val="2D2D44"/>
                </a:solidFill>
                <a:latin typeface="Segoe UI" panose="020B0502040204020203"/>
              </a:rPr>
              <a:t>kNN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geometry</a:t>
            </a:r>
          </a:p>
          <a:p>
            <a:pPr lvl="1">
              <a:lnSpc>
                <a:spcPct val="115000"/>
              </a:lnSpc>
              <a:spcAft>
                <a:spcPts val="400"/>
              </a:spcAft>
            </a:pPr>
            <a:r>
              <a:rPr sz="1000" b="1" dirty="0">
                <a:solidFill>
                  <a:srgbClr val="2D2D44"/>
                </a:solidFill>
                <a:latin typeface="Segoe UI" panose="020B0502040204020203"/>
              </a:rPr>
              <a:t>Registers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improve low-shot stability (1–10 shots)</a:t>
            </a:r>
          </a:p>
          <a:p>
            <a:pPr lvl="1">
              <a:lnSpc>
                <a:spcPct val="115000"/>
              </a:lnSpc>
              <a:spcAft>
                <a:spcPts val="400"/>
              </a:spcAft>
            </a:pPr>
            <a:r>
              <a:rPr sz="1000" b="1" dirty="0">
                <a:solidFill>
                  <a:srgbClr val="2D2D44"/>
                </a:solidFill>
                <a:latin typeface="Segoe UI" panose="020B0502040204020203"/>
              </a:rPr>
              <a:t>MoCo v3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underperforms on </a:t>
            </a:r>
            <a:r>
              <a:rPr sz="1000" b="0" dirty="0" err="1">
                <a:solidFill>
                  <a:srgbClr val="2D2D44"/>
                </a:solidFill>
                <a:latin typeface="Segoe UI" panose="020B0502040204020203"/>
              </a:rPr>
              <a:t>ViT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embeddings</a:t>
            </a:r>
          </a:p>
          <a:p>
            <a:pPr lvl="1">
              <a:lnSpc>
                <a:spcPct val="115000"/>
              </a:lnSpc>
              <a:spcAft>
                <a:spcPts val="400"/>
              </a:spcAft>
            </a:pPr>
            <a:r>
              <a:rPr sz="1000" b="1" dirty="0" err="1">
                <a:solidFill>
                  <a:srgbClr val="2D2D44"/>
                </a:solidFill>
                <a:latin typeface="Segoe UI" panose="020B0502040204020203"/>
              </a:rPr>
              <a:t>iBOT</a:t>
            </a:r>
            <a:r>
              <a:rPr sz="1000" b="1" dirty="0">
                <a:solidFill>
                  <a:srgbClr val="2D2D44"/>
                </a:solidFill>
                <a:latin typeface="Segoe UI" panose="020B0502040204020203"/>
              </a:rPr>
              <a:t> / </a:t>
            </a:r>
            <a:r>
              <a:rPr sz="1000" b="1" dirty="0" err="1">
                <a:solidFill>
                  <a:srgbClr val="2D2D44"/>
                </a:solidFill>
                <a:latin typeface="Segoe UI" panose="020B0502040204020203"/>
              </a:rPr>
              <a:t>AttMask</a:t>
            </a:r>
            <a:r>
              <a:rPr sz="1000" b="0" dirty="0">
                <a:solidFill>
                  <a:srgbClr val="2D2D44"/>
                </a:solidFill>
                <a:latin typeface="Segoe UI" panose="020B0502040204020203"/>
              </a:rPr>
              <a:t> are strong but below DINOv2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endParaRPr sz="1000" b="0" dirty="0">
              <a:solidFill>
                <a:srgbClr val="2D2D44"/>
              </a:solidFill>
              <a:latin typeface="Segoe UI" panose="020B0502040204020203"/>
            </a:endParaRP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lang="en-US" sz="1100" b="1" dirty="0">
                <a:solidFill>
                  <a:srgbClr val="2D2D44"/>
                </a:solidFill>
                <a:latin typeface="Segoe UI" panose="020B0502040204020203"/>
              </a:rPr>
              <a:t> </a:t>
            </a: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 Main Insight: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 b="0" dirty="0">
                <a:solidFill>
                  <a:srgbClr val="2D2D44"/>
                </a:solidFill>
                <a:latin typeface="Segoe UI" panose="020B0502040204020203"/>
              </a:rPr>
              <a:t>Performance depends more on </a:t>
            </a: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embedding space geometry</a:t>
            </a:r>
            <a:r>
              <a:rPr sz="1100" b="0" dirty="0">
                <a:solidFill>
                  <a:srgbClr val="2D2D44"/>
                </a:solidFill>
                <a:latin typeface="Segoe UI" panose="020B0502040204020203"/>
              </a:rPr>
              <a:t> than model size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71600"/>
            <a:ext cx="3447288" cy="493776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93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7992" y="1508760"/>
            <a:ext cx="3172968" cy="397383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9370DB"/>
                </a:solidFill>
                <a:latin typeface="Segoe UI" panose="020B0502040204020203"/>
              </a:defRPr>
            </a:pPr>
            <a:r>
              <a:rPr dirty="0"/>
              <a:t>WHY (MECHANISMS)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sz="1050" b="1" dirty="0">
                <a:solidFill>
                  <a:srgbClr val="2D2D44"/>
                </a:solidFill>
                <a:latin typeface="Segoe UI" panose="020B0502040204020203"/>
              </a:rPr>
              <a:t>Why these results happen: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050" b="0" dirty="0">
                <a:solidFill>
                  <a:srgbClr val="2D2D44"/>
                </a:solidFill>
                <a:latin typeface="Segoe UI" panose="020B0502040204020203"/>
              </a:rPr>
              <a:t> </a:t>
            </a:r>
            <a:r>
              <a:rPr sz="1050" b="0" dirty="0">
                <a:solidFill>
                  <a:srgbClr val="2D2D44"/>
                </a:solidFill>
                <a:latin typeface="Segoe UI" panose="020B0502040204020203"/>
              </a:rPr>
              <a:t> </a:t>
            </a:r>
            <a:r>
              <a:rPr sz="1050" b="1" dirty="0">
                <a:solidFill>
                  <a:srgbClr val="2D2D44"/>
                </a:solidFill>
                <a:latin typeface="Segoe UI" panose="020B0502040204020203"/>
              </a:rPr>
              <a:t>DINOv2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Large-scale pretraining (LVD-142M)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Strong teacher–student distillation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Highly structured embedding space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2D2D44"/>
                </a:solidFill>
                <a:latin typeface="Segoe UI" panose="020B0502040204020203"/>
              </a:rPr>
              <a:t>  </a:t>
            </a:r>
            <a:r>
              <a:rPr sz="1050" b="1" dirty="0">
                <a:solidFill>
                  <a:srgbClr val="2D2D44"/>
                </a:solidFill>
                <a:latin typeface="Segoe UI" panose="020B0502040204020203"/>
              </a:rPr>
              <a:t>Registers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Extra “memory tokens” absorb artifacts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Better low-shot robustness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2D2D44"/>
                </a:solidFill>
                <a:latin typeface="Segoe UI" panose="020B0502040204020203"/>
              </a:rPr>
              <a:t>  </a:t>
            </a:r>
            <a:r>
              <a:rPr sz="1050" b="1" dirty="0">
                <a:solidFill>
                  <a:srgbClr val="2D2D44"/>
                </a:solidFill>
                <a:latin typeface="Segoe UI" panose="020B0502040204020203"/>
              </a:rPr>
              <a:t>DINOv3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Extreme scaling (data + params)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Optimized for generalization, not clustering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2D2D44"/>
                </a:solidFill>
                <a:latin typeface="Segoe UI" panose="020B0502040204020203"/>
              </a:rPr>
              <a:t>  </a:t>
            </a:r>
            <a:r>
              <a:rPr sz="1050" b="1" dirty="0">
                <a:solidFill>
                  <a:srgbClr val="2D2D44"/>
                </a:solidFill>
                <a:latin typeface="Segoe UI" panose="020B0502040204020203"/>
              </a:rPr>
              <a:t>MoCo v3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Contrastive learning + negatives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Weaker </a:t>
            </a:r>
            <a:r>
              <a:rPr sz="950" b="0" dirty="0" err="1">
                <a:solidFill>
                  <a:srgbClr val="2D2D44"/>
                </a:solidFill>
                <a:latin typeface="Segoe UI" panose="020B0502040204020203"/>
              </a:rPr>
              <a:t>ViT</a:t>
            </a: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 embedding geometry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sz="1050" b="1" dirty="0">
                <a:solidFill>
                  <a:srgbClr val="2D2D44"/>
                </a:solidFill>
                <a:latin typeface="Segoe UI" panose="020B0502040204020203"/>
              </a:rPr>
              <a:t>  </a:t>
            </a:r>
            <a:r>
              <a:rPr sz="1050" b="1" dirty="0" err="1">
                <a:solidFill>
                  <a:srgbClr val="2D2D44"/>
                </a:solidFill>
                <a:latin typeface="Segoe UI" panose="020B0502040204020203"/>
              </a:rPr>
              <a:t>iBOT</a:t>
            </a:r>
            <a:r>
              <a:rPr sz="1050" b="1" dirty="0">
                <a:solidFill>
                  <a:srgbClr val="2D2D44"/>
                </a:solidFill>
                <a:latin typeface="Segoe UI" panose="020B0502040204020203"/>
              </a:rPr>
              <a:t> / </a:t>
            </a:r>
            <a:r>
              <a:rPr sz="1050" b="1" dirty="0" err="1">
                <a:solidFill>
                  <a:srgbClr val="2D2D44"/>
                </a:solidFill>
                <a:latin typeface="Segoe UI" panose="020B0502040204020203"/>
              </a:rPr>
              <a:t>AttMask</a:t>
            </a:r>
            <a:endParaRPr sz="1050" b="1" dirty="0">
              <a:solidFill>
                <a:srgbClr val="2D2D44"/>
              </a:solidFill>
              <a:latin typeface="Segoe UI" panose="020B0502040204020203"/>
            </a:endParaRP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Patch-level supervision</a:t>
            </a:r>
          </a:p>
          <a:p>
            <a:pPr lvl="2">
              <a:lnSpc>
                <a:spcPct val="110000"/>
              </a:lnSpc>
              <a:spcAft>
                <a:spcPts val="300"/>
              </a:spcAft>
            </a:pPr>
            <a:r>
              <a:rPr sz="950" b="0" dirty="0">
                <a:solidFill>
                  <a:srgbClr val="2D2D44"/>
                </a:solidFill>
                <a:latin typeface="Segoe UI" panose="020B0502040204020203"/>
              </a:rPr>
              <a:t>Strong local, weaker global alignment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93024" y="1371600"/>
            <a:ext cx="3447288" cy="4937760"/>
          </a:xfrm>
          <a:prstGeom prst="roundRect">
            <a:avLst/>
          </a:prstGeom>
          <a:solidFill>
            <a:srgbClr val="F2F9F5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70087" y="1508760"/>
            <a:ext cx="3172968" cy="346900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2E8B57"/>
                </a:solidFill>
                <a:latin typeface="Segoe UI" panose="020B0502040204020203"/>
              </a:defRPr>
            </a:pPr>
            <a:r>
              <a:rPr lang="en-US" dirty="0"/>
              <a:t>  </a:t>
            </a:r>
            <a:r>
              <a:rPr dirty="0"/>
              <a:t>LITERATURE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Caron et al., 2021 — DINO</a:t>
            </a:r>
          </a:p>
          <a:p>
            <a:pPr lvl="1">
              <a:spcAft>
                <a:spcPts val="1000"/>
              </a:spcAft>
            </a:pPr>
            <a:r>
              <a:rPr sz="900" u="sng" dirty="0">
                <a:solidFill>
                  <a:srgbClr val="2E8B57"/>
                </a:solidFill>
                <a:latin typeface="Consolas" panose="020B0609020204030204"/>
              </a:rPr>
              <a:t>https://arxiv.org/abs/2104.14294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D2D44"/>
                </a:solidFill>
                <a:latin typeface="Segoe UI" panose="020B0502040204020203"/>
              </a:rPr>
              <a:t>Oquab</a:t>
            </a: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 et al., 2023 — DINOv2</a:t>
            </a:r>
          </a:p>
          <a:p>
            <a:pPr lvl="1">
              <a:spcAft>
                <a:spcPts val="1000"/>
              </a:spcAft>
            </a:pPr>
            <a:r>
              <a:rPr sz="900" u="sng" dirty="0">
                <a:solidFill>
                  <a:srgbClr val="2E8B57"/>
                </a:solidFill>
                <a:latin typeface="Consolas" panose="020B0609020204030204"/>
              </a:rPr>
              <a:t>https://arxiv.org/abs/2304.07193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2D2D44"/>
                </a:solidFill>
                <a:latin typeface="Segoe UI" panose="020B0502040204020203"/>
              </a:rPr>
              <a:t>Touvron</a:t>
            </a: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 et al., 2023 — Registers</a:t>
            </a:r>
          </a:p>
          <a:p>
            <a:pPr lvl="1">
              <a:spcAft>
                <a:spcPts val="1000"/>
              </a:spcAft>
            </a:pPr>
            <a:r>
              <a:rPr sz="900" u="sng" dirty="0">
                <a:solidFill>
                  <a:srgbClr val="2E8B57"/>
                </a:solidFill>
                <a:latin typeface="Consolas" panose="020B0609020204030204"/>
              </a:rPr>
              <a:t>https://arxiv.org/abs/2309.16588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Chen et al., 2021 — MoCo v3</a:t>
            </a:r>
          </a:p>
          <a:p>
            <a:pPr lvl="1">
              <a:spcAft>
                <a:spcPts val="1000"/>
              </a:spcAft>
            </a:pPr>
            <a:r>
              <a:rPr sz="900" u="sng" dirty="0">
                <a:solidFill>
                  <a:srgbClr val="2E8B57"/>
                </a:solidFill>
                <a:latin typeface="Consolas" panose="020B0609020204030204"/>
              </a:rPr>
              <a:t>https://arxiv.org/abs/2104.02057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Zhou et al., 2021 — </a:t>
            </a:r>
            <a:r>
              <a:rPr sz="1100" b="1" dirty="0" err="1">
                <a:solidFill>
                  <a:srgbClr val="2D2D44"/>
                </a:solidFill>
                <a:latin typeface="Segoe UI" panose="020B0502040204020203"/>
              </a:rPr>
              <a:t>iBOT</a:t>
            </a:r>
            <a:endParaRPr sz="1100" b="1" dirty="0">
              <a:solidFill>
                <a:srgbClr val="2D2D44"/>
              </a:solidFill>
              <a:latin typeface="Segoe UI" panose="020B0502040204020203"/>
            </a:endParaRPr>
          </a:p>
          <a:p>
            <a:pPr lvl="1">
              <a:spcAft>
                <a:spcPts val="1000"/>
              </a:spcAft>
            </a:pPr>
            <a:r>
              <a:rPr sz="900" u="sng" dirty="0">
                <a:solidFill>
                  <a:srgbClr val="2E8B57"/>
                </a:solidFill>
                <a:latin typeface="Consolas" panose="020B0609020204030204"/>
              </a:rPr>
              <a:t>https://arxiv.org/abs/2111.07832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100" b="1" dirty="0" err="1">
                <a:solidFill>
                  <a:srgbClr val="2D2D44"/>
                </a:solidFill>
                <a:latin typeface="Segoe UI" panose="020B0502040204020203"/>
              </a:rPr>
              <a:t>Kakogeorgiou</a:t>
            </a:r>
            <a:r>
              <a:rPr sz="1100" b="1" dirty="0">
                <a:solidFill>
                  <a:srgbClr val="2D2D44"/>
                </a:solidFill>
                <a:latin typeface="Segoe UI" panose="020B0502040204020203"/>
              </a:rPr>
              <a:t> et al., 2022 — </a:t>
            </a:r>
            <a:r>
              <a:rPr sz="1100" b="1" dirty="0" err="1">
                <a:solidFill>
                  <a:srgbClr val="2D2D44"/>
                </a:solidFill>
                <a:latin typeface="Segoe UI" panose="020B0502040204020203"/>
              </a:rPr>
              <a:t>AttMask</a:t>
            </a:r>
            <a:endParaRPr sz="1100" b="1" dirty="0">
              <a:solidFill>
                <a:srgbClr val="2D2D44"/>
              </a:solidFill>
              <a:latin typeface="Segoe UI" panose="020B0502040204020203"/>
            </a:endParaRPr>
          </a:p>
          <a:p>
            <a:pPr lvl="1">
              <a:spcAft>
                <a:spcPts val="1000"/>
              </a:spcAft>
            </a:pPr>
            <a:r>
              <a:rPr lang="en-US" sz="900" u="sng">
                <a:solidFill>
                  <a:srgbClr val="2E8B57"/>
                </a:solidFill>
                <a:latin typeface="Consolas" panose="020B0609020204030204"/>
              </a:rPr>
              <a:t>https://arxiv.org/abs/2203.12719</a:t>
            </a:r>
            <a:endParaRPr sz="900" u="sng" dirty="0">
              <a:solidFill>
                <a:srgbClr val="2E8B57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Key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Evidence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Pretraining objective &gt; architecture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Same ViT-S → 43.9% to 94.7% accuracy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Self-distillation &gt;&gt; contrastive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 beats MoCo by 50+ pp on 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DINOv2 matches supervised baselines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95.1% with 50× fewer labels than ResNet-50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Register tokens help at low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+2pp at 1-shot, converge at high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Log-linear scaling with N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Steepest gains 1→10 shots, diminishing after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CLS &gt; MeanPool for DINOv1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dirty="0"/>
                        <a:t>24pp gap; DINOv2 closes it to 2.6pp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576C"/>
                </a:solidFill>
                <a:latin typeface="Segoe UI"/>
              </a:defRPr>
            </a:pPr>
            <a:r>
              <a:rPr dirty="0"/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052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 dirty="0">
                <a:solidFill>
                  <a:srgbClr val="2D2D44"/>
                </a:solidFill>
                <a:latin typeface="Segoe UI"/>
              </a:rPr>
              <a:t>Only </a:t>
            </a:r>
            <a:r>
              <a:rPr sz="1500" b="0" dirty="0" err="1">
                <a:solidFill>
                  <a:srgbClr val="2D2D44"/>
                </a:solidFill>
                <a:latin typeface="Segoe UI"/>
              </a:rPr>
              <a:t>ViT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-Small variants evaluated </a:t>
            </a:r>
            <a:r>
              <a:rPr lang="en-US" sz="1500" b="0" dirty="0">
                <a:solidFill>
                  <a:srgbClr val="2D2D44"/>
                </a:solidFill>
                <a:latin typeface="Segoe UI"/>
              </a:rPr>
              <a:t>and probably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larger models (</a:t>
            </a:r>
            <a:r>
              <a:rPr sz="1500" b="0" dirty="0" err="1">
                <a:solidFill>
                  <a:srgbClr val="2D2D44"/>
                </a:solidFill>
                <a:latin typeface="Segoe UI"/>
              </a:rPr>
              <a:t>ViT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-B/L) would likely improve downstream accuracy further.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 dirty="0">
                <a:solidFill>
                  <a:srgbClr val="2D2D44"/>
                </a:solidFill>
                <a:latin typeface="Segoe UI"/>
              </a:rPr>
              <a:t>Backbones differ in pretraining data (ImageNet-1K vs curated LVD-142M/1689M) </a:t>
            </a:r>
            <a:r>
              <a:rPr lang="en-US" sz="1500" b="0" dirty="0">
                <a:solidFill>
                  <a:srgbClr val="2D2D44"/>
                </a:solidFill>
                <a:latin typeface="Segoe UI"/>
              </a:rPr>
              <a:t>is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not a fully controlled comparison.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 dirty="0">
                <a:solidFill>
                  <a:srgbClr val="2D2D44"/>
                </a:solidFill>
                <a:latin typeface="Segoe UI"/>
              </a:rPr>
              <a:t>CIFAR-10/100 images are low-resolution (32×32) </a:t>
            </a:r>
            <a:r>
              <a:rPr lang="en-US" sz="1500" b="0" dirty="0">
                <a:solidFill>
                  <a:srgbClr val="2D2D44"/>
                </a:solidFill>
                <a:latin typeface="Segoe UI"/>
              </a:rPr>
              <a:t>which</a:t>
            </a:r>
            <a:r>
              <a:rPr sz="1500" b="0" dirty="0">
                <a:solidFill>
                  <a:srgbClr val="2D2D44"/>
                </a:solidFill>
                <a:latin typeface="Segoe UI"/>
              </a:rPr>
              <a:t> creating a domain gap with the pretraining datasets.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 dirty="0">
                <a:solidFill>
                  <a:srgbClr val="2D2D44"/>
                </a:solidFill>
                <a:latin typeface="Segoe UI"/>
              </a:rPr>
              <a:t>Fine-tuning and linear probing strategies were not explored.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1998E"/>
                </a:solidFill>
                <a:latin typeface="Segoe UI"/>
              </a:defRPr>
            </a:pPr>
            <a:r>
              <a:rPr dirty="0"/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Evaluate ViT-Base, ViT-Large, and CLIP-based models.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Test on mini-ImageNet, CUB-200, and EuroSAT datasets.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Explore concatenating CLS and MeanPool features.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Compare kNN performance directly against linear probing and full fine-tuning.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500">
                <a:solidFill>
                  <a:srgbClr val="2D2D44"/>
                </a:solidFill>
                <a:latin typeface="Segoe UI"/>
              </a:defRPr>
            </a:pPr>
            <a:r>
              <a:rPr sz="1500" b="0">
                <a:solidFill>
                  <a:srgbClr val="2D2D44"/>
                </a:solidFill>
                <a:latin typeface="Segoe UI"/>
              </a:rPr>
              <a:t>Explore adapter layers for minimal parameter fine-tuning.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361EE"/>
                </a:solidFill>
                <a:latin typeface="Segoe UI"/>
              </a:defRPr>
            </a:pPr>
            <a:r>
              <a:t>Supervised ResNet-50 Baseline (CLS, k=5)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100-shot</a:t>
                      </a:r>
                    </a:p>
                  </a:txBody>
                  <a:tcPr>
                    <a:solidFill>
                      <a:srgbClr val="436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ResNet-50 · CIFAR-10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94.4 ± 0.1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94.6 ± 0.1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94.6 ± 0.0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94.6 ± 0.1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ResNet-50 · CIFAR-10 (aug)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91.3 ± 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94.3 ± 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94.7 ±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95.2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ResNet-50 · CIFAR-100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72.2 ± 0.3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75.5 ± 0.1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5576C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75.7 ± 0.1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76.6 ± 0.1</a:t>
                      </a:r>
                    </a:p>
                  </a:txBody>
                  <a:tcPr>
                    <a:solidFill>
                      <a:srgbClr val="F8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t>ResNet-50 · CIFAR-100 (aug)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59.8 ± 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70.8 ±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72.9 ± 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44"/>
                          </a:solidFill>
                          <a:latin typeface="Segoe UI"/>
                        </a:defRPr>
                      </a:pPr>
                      <a:r>
                        <a:rPr b="0">
                          <a:solidFill>
                            <a:srgbClr val="262626"/>
                          </a:solidFill>
                        </a:rPr>
                        <a:t>76.8 ± 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cifar10_knn_5_c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4114800" cy="3325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4846320"/>
            <a:ext cx="3840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dirty="0"/>
              <a:t>Supervised </a:t>
            </a:r>
            <a:r>
              <a:rPr sz="1100" dirty="0" err="1"/>
              <a:t>ResNet</a:t>
            </a:r>
            <a:r>
              <a:rPr sz="1100" dirty="0"/>
              <a:t> (flat top lines) ≈ best self-supervised DINOv2  which uses no labels in pretraining.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698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 dirty="0">
                <a:solidFill>
                  <a:srgbClr val="404040"/>
                </a:solidFill>
              </a:rPr>
              <a:t>The supervised ceiling  matched on CIFAR-10 and beaten on CIFAR-100 by DINOv2, with zero labels in pretraining.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99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1645920"/>
            <a:ext cx="9262872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19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1352" cy="21622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700">
                <a:solidFill>
                  <a:srgbClr val="2D2D44"/>
                </a:solidFill>
                <a:latin typeface="Segoe UI"/>
              </a:defRPr>
            </a:pPr>
            <a:r>
              <a:rPr sz="1700" b="1" dirty="0">
                <a:solidFill>
                  <a:srgbClr val="2D2D44"/>
                </a:solidFill>
                <a:latin typeface="Segoe UI"/>
              </a:rPr>
              <a:t>Frozen SSL </a:t>
            </a:r>
            <a:r>
              <a:rPr sz="1700" b="1" dirty="0" err="1">
                <a:solidFill>
                  <a:srgbClr val="2D2D44"/>
                </a:solidFill>
                <a:latin typeface="Segoe UI"/>
              </a:rPr>
              <a:t>ViT</a:t>
            </a:r>
            <a:r>
              <a:rPr sz="1700" b="1" dirty="0">
                <a:solidFill>
                  <a:srgbClr val="2D2D44"/>
                </a:solidFill>
                <a:latin typeface="Segoe UI"/>
              </a:rPr>
              <a:t>-S + </a:t>
            </a:r>
            <a:r>
              <a:rPr sz="1700" b="1" dirty="0" err="1">
                <a:solidFill>
                  <a:srgbClr val="2D2D44"/>
                </a:solidFill>
                <a:latin typeface="Segoe UI"/>
              </a:rPr>
              <a:t>kNN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achieves </a:t>
            </a:r>
            <a:r>
              <a:rPr sz="1700" b="1" dirty="0">
                <a:solidFill>
                  <a:srgbClr val="2D2D44"/>
                </a:solidFill>
                <a:latin typeface="Segoe UI"/>
              </a:rPr>
              <a:t>95.1% on CIFAR-10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and </a:t>
            </a:r>
            <a:r>
              <a:rPr sz="1700" b="1" dirty="0">
                <a:solidFill>
                  <a:srgbClr val="2D2D44"/>
                </a:solidFill>
                <a:latin typeface="Segoe UI"/>
              </a:rPr>
              <a:t>82.0% on CIFAR-100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with only 100 labels/class.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700">
                <a:solidFill>
                  <a:srgbClr val="2D2D44"/>
                </a:solidFill>
                <a:latin typeface="Segoe UI"/>
              </a:defRPr>
            </a:pPr>
            <a:r>
              <a:rPr sz="1700" b="0" dirty="0">
                <a:solidFill>
                  <a:srgbClr val="2D2D44"/>
                </a:solidFill>
                <a:latin typeface="Segoe UI"/>
              </a:rPr>
              <a:t>The </a:t>
            </a:r>
            <a:r>
              <a:rPr sz="1700" b="1" dirty="0">
                <a:solidFill>
                  <a:srgbClr val="2D2D44"/>
                </a:solidFill>
                <a:latin typeface="Segoe UI"/>
              </a:rPr>
              <a:t>pretraining objective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</a:t>
            </a:r>
            <a:r>
              <a:rPr lang="en-US" sz="1700" dirty="0">
                <a:solidFill>
                  <a:srgbClr val="2D2D44"/>
                </a:solidFill>
                <a:latin typeface="Segoe UI"/>
              </a:rPr>
              <a:t>and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not </a:t>
            </a:r>
            <a:r>
              <a:rPr lang="en-US" sz="1700" b="0" dirty="0">
                <a:solidFill>
                  <a:srgbClr val="2D2D44"/>
                </a:solidFill>
                <a:latin typeface="Segoe UI"/>
              </a:rPr>
              <a:t>the 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model size determines downstream </a:t>
            </a:r>
            <a:r>
              <a:rPr sz="1700" b="0" dirty="0" err="1">
                <a:solidFill>
                  <a:srgbClr val="2D2D44"/>
                </a:solidFill>
                <a:latin typeface="Segoe UI"/>
              </a:rPr>
              <a:t>kNN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quality.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700">
                <a:solidFill>
                  <a:srgbClr val="2D2D44"/>
                </a:solidFill>
                <a:latin typeface="Segoe UI"/>
              </a:defRPr>
            </a:pPr>
            <a:r>
              <a:rPr sz="1700" b="0" dirty="0">
                <a:solidFill>
                  <a:srgbClr val="2D2D44"/>
                </a:solidFill>
                <a:latin typeface="Segoe UI"/>
              </a:rPr>
              <a:t>Self-distillation (DINO family) produces </a:t>
            </a:r>
            <a:r>
              <a:rPr sz="1700" b="1" dirty="0">
                <a:solidFill>
                  <a:srgbClr val="2D2D44"/>
                </a:solidFill>
                <a:latin typeface="Segoe UI"/>
              </a:rPr>
              <a:t>semantically clustered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features ideal for non-parametric retrieval.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700">
                <a:solidFill>
                  <a:srgbClr val="2D2D44"/>
                </a:solidFill>
                <a:latin typeface="Segoe UI"/>
              </a:defRPr>
            </a:pPr>
            <a:r>
              <a:rPr sz="1700" b="0" dirty="0">
                <a:solidFill>
                  <a:srgbClr val="2D2D44"/>
                </a:solidFill>
                <a:latin typeface="Segoe UI"/>
              </a:rPr>
              <a:t>Modern SSL makes </a:t>
            </a:r>
            <a:r>
              <a:rPr sz="1700" b="1" dirty="0">
                <a:solidFill>
                  <a:srgbClr val="2D2D44"/>
                </a:solidFill>
                <a:latin typeface="Segoe UI"/>
              </a:rPr>
              <a:t>labelling-efficient classification</a:t>
            </a:r>
            <a:r>
              <a:rPr sz="1700" b="0" dirty="0">
                <a:solidFill>
                  <a:srgbClr val="2D2D44"/>
                </a:solidFill>
                <a:latin typeface="Segoe UI"/>
              </a:rPr>
              <a:t> practical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464" y="5577840"/>
            <a:ext cx="77805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🔗 Repository: </a:t>
            </a:r>
            <a:r>
              <a:rPr lang="en-US" dirty="0"/>
              <a:t>https://github.com/kostismatz/ssl-knn-fewshot</a:t>
            </a:r>
            <a:r>
              <a:rPr dirty="0"/>
              <a:t>   |   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1741</Words>
  <Application>Microsoft Office PowerPoint</Application>
  <PresentationFormat>Widescreen</PresentationFormat>
  <Paragraphs>302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Spiros Batziopoulos</cp:lastModifiedBy>
  <cp:revision>11</cp:revision>
  <dcterms:created xsi:type="dcterms:W3CDTF">2013-01-27T09:14:16Z</dcterms:created>
  <dcterms:modified xsi:type="dcterms:W3CDTF">2026-06-23T08:32:41Z</dcterms:modified>
  <cp:category/>
</cp:coreProperties>
</file>