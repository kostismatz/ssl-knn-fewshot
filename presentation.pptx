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0" d="100"/>
          <a:sy n="100" d="100"/>
        </p:scale>
        <p:origin x="90" y="33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630906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everyone. Our project investigates a simple but powerful idea: can we do accurate image classification with very few labelled examples, using only frozen self-supervised backbones and a k-nearest-neighbour classifier — with zero fine-tuning and zero learnable parameters?</a:t>
            </a:r>
          </a:p>
          <a:p>
            <a:endParaRPr/>
          </a:p>
          <a:p>
            <a:r>
              <a:t>My name is Kostis Matzaridis, and I'll be presenting alongside Contributor B and Contributor C.</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why does this matter? In many real-world domains — think medical imaging, satellite monitoring, or rare species classification — you often have fewer than ten labelled examples per class. Traditional deep learning simply doesn't work in this regime.</a:t>
            </a:r>
          </a:p>
          <a:p>
            <a:endParaRPr/>
          </a:p>
          <a:p>
            <a:r>
              <a:t>Self-supervised learning, or SSL, offers a way out. It trains powerful visual features from unlabelled data using pretext tasks like self-distillation or contrastive learning. The representations it produces are general-purpose — they capture visual semantics without ever seeing a label.</a:t>
            </a:r>
          </a:p>
          <a:p>
            <a:endParaRPr/>
          </a:p>
          <a:p>
            <a:r>
              <a:t>Our key question is: are these SSL features already structured well enough that a completely non-parametric classifier — specifically k-nearest neighbours — can achieve strong accuracy? Notice the two zeros highlighted here: zero learnable parameters in our classifier, and zero gradient updates on the target dataset. Everything depends on the quality of the pretrained feature space.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our complete pipeline. We start with CIFAR images — small 32×32 pixel photos. These are upsampled to 224×224 on the GPU using bicubic interpolation and normalised with ImageNet statistics.</a:t>
            </a:r>
          </a:p>
          <a:p>
            <a:endParaRPr/>
          </a:p>
          <a:p>
            <a:r>
              <a:t>They then pass through a frozen Vision Transformer backbone pretrained with SSL. From the output, we extract two types of feature vectors: the CLS token — a global summary token — and the mean of all spatial patch tokens. Both are L2-normalised, so cosine similarity reduces to a simple dot product.</a:t>
            </a:r>
          </a:p>
          <a:p>
            <a:endParaRPr/>
          </a:p>
          <a:p>
            <a:r>
              <a:t>At evaluation time, we sample N labelled support images per class and classify test images by temperature-weighted k-nearest-neighbour voting. The entire pipeline has no learnable parameters — accuracy is a direct reflection of the geometric quality of the pretrained representation space.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evaluate four SSL backbones, all sharing the same ViT-Small architecture with approximately 22 million parameters. This is deliberate — because the architecture is identical, any performance differences are attributable purely to the pretraining objective.</a:t>
            </a:r>
          </a:p>
          <a:p>
            <a:endParaRPr/>
          </a:p>
          <a:p>
            <a:r>
              <a:t>First, DINO ViT-S/16 — the original self-distillation method trained on ImageNet-1K. Second, DINOv2 ViT-S/14 — an improved version trained on a much larger curated dataset of 142 million images, with masked image modelling added to the objective. Third, the same DINOv2 but with register tokens — four extra learnable tokens that act as 'scratch space' for attention, cleaning up artifact patterns. And fourth, MoCo v3 — a momentum-contrastive method, representing the alternative paradigm to self-distillation.</a:t>
            </a:r>
          </a:p>
          <a:p>
            <a:endParaRPr/>
          </a:p>
          <a:p>
            <a:r>
              <a:t>The key design choice here is that same capacity, different objectives — this lets us isolate which training recipe produces the best features for nearest-neighbour retrieval.</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Speaker A. Let me explain the technical details of our approach.</a:t>
            </a:r>
          </a:p>
          <a:p>
            <a:endParaRPr/>
          </a:p>
          <a:p>
            <a:r>
              <a:t>Feature extraction happens entirely on GPU for speed. We bypass the typical CPU-side PIL image processing by loading the entire dataset as a NumPy array, converting it to a float32 tensor, and doing all normalisation and resizing in batch on the GPU.</a:t>
            </a:r>
          </a:p>
          <a:p>
            <a:endParaRPr/>
          </a:p>
          <a:p>
            <a:r>
              <a:t>The classifier uses DINO-style temperature-weighted kNN. As you can see in the formula, for each test image we find its k nearest support neighbours by cosine similarity, weight each neighbour's vote by an exponential of the similarity divided by a temperature of 0.07 — this sharpens the weights so closer neighbours matter more — and predict the class with the highest total weighted vote.</a:t>
            </a:r>
          </a:p>
          <a:p>
            <a:endParaRPr/>
          </a:p>
          <a:p>
            <a:r>
              <a:t>The implementation is fully vectorised using scatter_add — no Python loops over test samples.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evaluation is exhaustive. We sweep two datasets — CIFAR-10 and CIFAR-100 — across all four backbones, both pooling strategies, seven support-set sizes from 1-shot to 100-shot, three values of k, and three random seeds per configuration. That gives us exactly 1,008 evaluated conditions.</a:t>
            </a:r>
          </a:p>
          <a:p>
            <a:endParaRPr/>
          </a:p>
          <a:p>
            <a:r>
              <a:t>Every result we report is the mean across three seeds, providing reliable estimates with variance.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let's look at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headline plot. It shows accuracy versus number of shots per class for all four models, using CLS token pooling and k=5.</a:t>
            </a:r>
          </a:p>
          <a:p>
            <a:endParaRPr/>
          </a:p>
          <a:p>
            <a:r>
              <a:t>On CIFAR-10, the left panel, you can see DINOv2 variants — the green and purple curves — dominating at every shot count. Even with just one labelled image per class, DINOv2 with registers achieves 68% accuracy, well above the 10% random baseline. By 100 shots, both DINOv2 variants reach approximately 95% — matching a supervised ResNet-50 trained on the full 50,000-image dataset.</a:t>
            </a:r>
          </a:p>
          <a:p>
            <a:endParaRPr/>
          </a:p>
          <a:p>
            <a:r>
              <a:t>DINO v1, the blue curve, is solid but trails by about 6 percentage points. And MoCo v3, in red, lags by over 50 percentage points — it barely surpasses 44% even at 100 shots.</a:t>
            </a:r>
          </a:p>
          <a:p>
            <a:endParaRPr/>
          </a:p>
          <a:p>
            <a:r>
              <a:t>On CIFAR-100, the right panel, the same ranking holds. DINOv2 reaches about 80% at 100 shots — an 82 percentage point gain over the 1% random baseline. The shaded bands show standard deviation, which collapses to near-zero beyond 20 shots.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the detailed CIFAR-10 table. The highlighted cells show the best results per column. DINOv2 with registers leads at 1-shot, 5-shot, and 10-shot. Standard DINOv2 takes the 100-shot crown at 94.7%.</a:t>
            </a:r>
          </a:p>
          <a:p>
            <a:endParaRPr/>
          </a:p>
          <a:p>
            <a:r>
              <a:t>The critical comparison: this 95.1% accuracy at k=20 uses only 1,000 labelled images total — that's a 50× reduction compared to a fully-supervised ResNet-50 trained on the same dataset, with no performance loss.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CIFAR-100 is 10 times harder — 100 fine-grained classes with only 500 training images each. Yet DINOv2 achieves 80.6% at 100 shots. Importantly, the model ranking is perfectly preserved across both datasets: DINOv2-reg ≈ DINOv2 &gt; DINOv1 &gt;&gt; MoCo v3.</a:t>
            </a:r>
          </a:p>
          <a:p>
            <a:endParaRPr/>
          </a:p>
          <a:p>
            <a:r>
              <a:t>I'll now pass to Speaker C for the analysis.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Speaker B. Let me dig into what drives these differences, starting with the pooling strategy.</a:t>
            </a:r>
          </a:p>
          <a:p>
            <a:endParaRPr/>
          </a:p>
          <a:p>
            <a:r>
              <a:t>This bar chart compares CLS token and mean-pool features at 1-shot and 100-shot for all four models. The story is dramatically different per backbone.</a:t>
            </a:r>
          </a:p>
          <a:p>
            <a:endParaRPr/>
          </a:p>
          <a:p>
            <a:r>
              <a:t>For DINO v1, CLS is far superior — 88.4% versus 64.4% on CIFAR-10, a 24 percentage point gap. This makes sense: DINOv1's training explicitly optimises the CLS token as a holistic image summary, while the patch tokens are not trained to be individually discriminative.</a:t>
            </a:r>
          </a:p>
          <a:p>
            <a:endParaRPr/>
          </a:p>
          <a:p>
            <a:r>
              <a:t>For DINOv2, the gap closes to just 2.6 percentage points, because its masked image modelling objective forces patch tokens to carry rich local semantic content. And for MoCo v3, both pooling strategies give similarly poor results — the bottleneck is the overall feature quality, not the pooling choice.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heatmap shows how k affects accuracy at 100 shots. The main takeaway is that k has a moderate but consistent effect — going from k=1 to k=20 improves accuracy by 1 to 5 percentage points.</a:t>
            </a:r>
          </a:p>
          <a:p>
            <a:endParaRPr/>
          </a:p>
          <a:p>
            <a:r>
              <a:t>DINOv2 models are remarkably robust to k — all three values give at least 93% on CIFAR-10. MoCo v3 benefits more from larger k, which makes sense: its feature space is less cleanly clustered, so majority voting helps reduce noise.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put the results in perspective: DINOv2 achieves an 85 percentage point gain over random chance on CIFAR-10 and an 82 percentage point gain on CIFAR-100 at 100 shots. Even at just 1-shot, DINOv2 with registers gains 49 points over random on the 100-class dataset — a remarkable result from a model that saw zero target-domain labels during pretraining.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me summarise our six key findings.</a:t>
            </a:r>
          </a:p>
          <a:p>
            <a:endParaRPr/>
          </a:p>
          <a:p>
            <a:r>
              <a:t>First, pretraining objective matters more than architecture — all four models share the same ViT-Small capacity, yet accuracy spans from 44% to 95%.</a:t>
            </a:r>
          </a:p>
          <a:p>
            <a:endParaRPr/>
          </a:p>
          <a:p>
            <a:r>
              <a:t>Second, self-distillation dramatically outperforms contrastive learning for kNN-based retrieval, by over 50 percentage points.</a:t>
            </a:r>
          </a:p>
          <a:p>
            <a:endParaRPr/>
          </a:p>
          <a:p>
            <a:r>
              <a:t>Third, DINOv2 matches a fully-supervised ResNet-50 baseline using 50 times fewer labels — the most practically impactful result.</a:t>
            </a:r>
          </a:p>
          <a:p>
            <a:endParaRPr/>
          </a:p>
          <a:p>
            <a:r>
              <a:t>Fourth, register tokens provide a small but consistent boost at low shot counts, where CLS token quality matters most.</a:t>
            </a:r>
          </a:p>
          <a:p>
            <a:endParaRPr/>
          </a:p>
          <a:p>
            <a:r>
              <a:t>Fifth, all models show log-linear scaling of accuracy with N, with the steepest gains between 1 and 10 shots.</a:t>
            </a:r>
          </a:p>
          <a:p>
            <a:endParaRPr/>
          </a:p>
          <a:p>
            <a:r>
              <a:t>And sixth, the CLS-versus-mean-pool choice is model-dependent: critical for DINOv1, negligible for DINOv2.</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should note some limitations. We only tested ViT-Small variants — larger models would likely improve further. iBOT and AttMask could not be evaluated due to checkpoint access issues. And CIFAR's 32×32 resolution creates a domain gap with the pretrain data.</a:t>
            </a:r>
          </a:p>
          <a:p>
            <a:endParaRPr/>
          </a:p>
          <a:p>
            <a:r>
              <a:t>For future work, we'd like to evaluate ViT-Base and ViT-Large, test on more diverse benchmarks like mini-ImageNet and CUB-200, explore feature concatenation of CLS and mean-pool, and compare kNN against linear probing.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conclude: we've shown that frozen self-supervised ViT-Small backbones, combined with a simple temperature-weighted kNN classifier, achieve 95.1% on CIFAR-10 and 82% on CIFAR-100 with only 100 labels per class — and zero gradient updates.</a:t>
            </a:r>
          </a:p>
          <a:p>
            <a:endParaRPr/>
          </a:p>
          <a:p>
            <a:r>
              <a:t>The pretraining objective, not model size, determines downstream kNN quality. Self-distillation (DINO family) produces semantically clustered features ideal for non-parametric retrieval, and modern SSL makes labelling-efficient classification practical today.</a:t>
            </a:r>
          </a:p>
          <a:p>
            <a:endParaRPr/>
          </a:p>
          <a:p>
            <a:r>
              <a:t>Thank you for your attention. We'd be happy to take any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0C29"/>
        </a:solidFill>
        <a:effectLst/>
      </p:bgPr>
    </p:bg>
    <p:spTree>
      <p:nvGrpSpPr>
        <p:cNvPr id="1" name=""/>
        <p:cNvGrpSpPr/>
        <p:nvPr/>
      </p:nvGrpSpPr>
      <p:grpSpPr>
        <a:xfrm>
          <a:off x="0" y="0"/>
          <a:ext cx="0" cy="0"/>
          <a:chOff x="0" y="0"/>
          <a:chExt cx="0" cy="0"/>
        </a:xfrm>
      </p:grpSpPr>
      <p:sp>
        <p:nvSpPr>
          <p:cNvPr id="2" name="TextBox 1"/>
          <p:cNvSpPr txBox="1"/>
          <p:nvPr/>
        </p:nvSpPr>
        <p:spPr>
          <a:xfrm>
            <a:off x="731520" y="1645920"/>
            <a:ext cx="10698480" cy="2011680"/>
          </a:xfrm>
          <a:prstGeom prst="rect">
            <a:avLst/>
          </a:prstGeom>
          <a:noFill/>
        </p:spPr>
        <p:txBody>
          <a:bodyPr wrap="square">
            <a:spAutoFit/>
          </a:bodyPr>
          <a:lstStyle/>
          <a:p>
            <a:pPr algn="ctr">
              <a:defRPr sz="4000" b="1">
                <a:solidFill>
                  <a:srgbClr val="FFFFFF"/>
                </a:solidFill>
                <a:latin typeface="Segoe UI"/>
              </a:defRPr>
            </a:pPr>
            <a:r>
              <a:t>Few-Shot Image Classification</a:t>
            </a:r>
            <a:br/>
            <a:r>
              <a:t>with Self-Supervised Backbones &amp; kNN</a:t>
            </a:r>
          </a:p>
          <a:p>
            <a:pPr algn="ctr">
              <a:spcBef>
                <a:spcPts val="2000"/>
              </a:spcBef>
              <a:defRPr sz="1800">
                <a:solidFill>
                  <a:srgbClr val="A5B4FC"/>
                </a:solidFill>
                <a:latin typeface="Segoe UI"/>
              </a:defRPr>
            </a:pPr>
            <a:r>
              <a:t>Can frozen SSL representations enable competitive classification without any fine-tuning?</a:t>
            </a:r>
          </a:p>
        </p:txBody>
      </p:sp>
      <p:sp>
        <p:nvSpPr>
          <p:cNvPr id="3" name="TextBox 2"/>
          <p:cNvSpPr txBox="1"/>
          <p:nvPr/>
        </p:nvSpPr>
        <p:spPr>
          <a:xfrm>
            <a:off x="731520" y="4389120"/>
            <a:ext cx="10698480" cy="323165"/>
          </a:xfrm>
          <a:prstGeom prst="rect">
            <a:avLst/>
          </a:prstGeom>
          <a:noFill/>
        </p:spPr>
        <p:txBody>
          <a:bodyPr wrap="square">
            <a:spAutoFit/>
          </a:bodyPr>
          <a:lstStyle/>
          <a:p>
            <a:pPr algn="ctr">
              <a:defRPr sz="1500" b="1">
                <a:solidFill>
                  <a:srgbClr val="FFFFFF"/>
                </a:solidFill>
                <a:latin typeface="Segoe UI"/>
              </a:defRPr>
            </a:pPr>
            <a:r>
              <a:rPr dirty="0"/>
              <a:t>Kostis </a:t>
            </a:r>
            <a:r>
              <a:rPr lang="en-US" dirty="0" err="1"/>
              <a:t>Matzorakis</a:t>
            </a:r>
            <a:r>
              <a:rPr dirty="0"/>
              <a:t>  ·  </a:t>
            </a:r>
            <a:r>
              <a:rPr lang="en-US" dirty="0"/>
              <a:t>George Manthos </a:t>
            </a:r>
            <a:r>
              <a:rPr dirty="0"/>
              <a:t>·  </a:t>
            </a:r>
            <a:r>
              <a:rPr lang="en-US" dirty="0"/>
              <a:t>Spiros Batziopoulos</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9144000" cy="1005840"/>
          </a:xfrm>
          <a:prstGeom prst="rect">
            <a:avLst/>
          </a:prstGeom>
          <a:noFill/>
        </p:spPr>
        <p:txBody>
          <a:bodyPr wrap="square" lIns="0" tIns="0" rIns="0" bIns="0">
            <a:spAutoFit/>
          </a:bodyPr>
          <a:lstStyle/>
          <a:p>
            <a:pPr>
              <a:defRPr sz="2800" b="1">
                <a:solidFill>
                  <a:srgbClr val="4361EE"/>
                </a:solidFill>
                <a:latin typeface="Segoe UI"/>
              </a:defRPr>
            </a:pPr>
            <a:r>
              <a:t>Why Few-Shot + Self-Supervised?</a:t>
            </a:r>
          </a:p>
        </p:txBody>
      </p:sp>
      <p:sp>
        <p:nvSpPr>
          <p:cNvPr id="4" name="TextBox 3"/>
          <p:cNvSpPr txBox="1"/>
          <p:nvPr/>
        </p:nvSpPr>
        <p:spPr>
          <a:xfrm>
            <a:off x="731520" y="1645920"/>
            <a:ext cx="5669280" cy="4114800"/>
          </a:xfrm>
          <a:prstGeom prst="rect">
            <a:avLst/>
          </a:prstGeom>
          <a:noFill/>
        </p:spPr>
        <p:txBody>
          <a:bodyPr wrap="square" lIns="0" tIns="0" rIns="0" bIns="0">
            <a:spAutoFit/>
          </a:bodyPr>
          <a:lstStyle/>
          <a:p>
            <a:pPr>
              <a:lnSpc>
                <a:spcPct val="120000"/>
              </a:lnSpc>
              <a:spcAft>
                <a:spcPts val="800"/>
              </a:spcAft>
              <a:defRPr sz="1800">
                <a:solidFill>
                  <a:srgbClr val="2D2D44"/>
                </a:solidFill>
                <a:latin typeface="Segoe UI"/>
              </a:defRPr>
            </a:pPr>
            <a:r>
              <a:rPr sz="1800" b="1">
                <a:solidFill>
                  <a:srgbClr val="2D2D44"/>
                </a:solidFill>
                <a:latin typeface="Segoe UI"/>
              </a:rPr>
              <a:t>Labelling is expensive:</a:t>
            </a:r>
            <a:r>
              <a:rPr sz="1800" b="0">
                <a:solidFill>
                  <a:srgbClr val="2D2D44"/>
                </a:solidFill>
                <a:latin typeface="Segoe UI"/>
              </a:rPr>
              <a:t> Medical imaging, satellite data, and rare species often have &lt;10 labelled samples per class.</a:t>
            </a:r>
          </a:p>
          <a:p>
            <a:pPr>
              <a:lnSpc>
                <a:spcPct val="120000"/>
              </a:lnSpc>
              <a:spcAft>
                <a:spcPts val="800"/>
              </a:spcAft>
              <a:defRPr sz="1800">
                <a:solidFill>
                  <a:srgbClr val="2D2D44"/>
                </a:solidFill>
                <a:latin typeface="Segoe UI"/>
              </a:defRPr>
            </a:pPr>
            <a:r>
              <a:rPr sz="1800" b="1">
                <a:solidFill>
                  <a:srgbClr val="2D2D44"/>
                </a:solidFill>
                <a:latin typeface="Segoe UI"/>
              </a:rPr>
              <a:t>Self-supervised learning (SSL)</a:t>
            </a:r>
            <a:r>
              <a:rPr sz="1800" b="0">
                <a:solidFill>
                  <a:srgbClr val="2D2D44"/>
                </a:solidFill>
                <a:latin typeface="Segoe UI"/>
              </a:rPr>
              <a:t> trains powerful visual features from unlabelled data alone.</a:t>
            </a:r>
          </a:p>
          <a:p>
            <a:pPr>
              <a:lnSpc>
                <a:spcPct val="120000"/>
              </a:lnSpc>
              <a:spcAft>
                <a:spcPts val="800"/>
              </a:spcAft>
              <a:defRPr sz="1800">
                <a:solidFill>
                  <a:srgbClr val="2D2D44"/>
                </a:solidFill>
                <a:latin typeface="Segoe UI"/>
              </a:defRPr>
            </a:pPr>
            <a:r>
              <a:rPr sz="1800" b="1">
                <a:solidFill>
                  <a:srgbClr val="2D2D44"/>
                </a:solidFill>
                <a:latin typeface="Segoe UI"/>
              </a:rPr>
              <a:t>Key question:</a:t>
            </a:r>
            <a:r>
              <a:rPr sz="1800" b="0">
                <a:solidFill>
                  <a:srgbClr val="2D2D44"/>
                </a:solidFill>
                <a:latin typeface="Segoe UI"/>
              </a:rPr>
              <a:t> Can SSL features already separate classes well enough that a simple kNN classifier works — with no gradient updates?</a:t>
            </a:r>
          </a:p>
        </p:txBody>
      </p:sp>
      <p:sp>
        <p:nvSpPr>
          <p:cNvPr id="5" name="Rounded Rectangle 4"/>
          <p:cNvSpPr/>
          <p:nvPr/>
        </p:nvSpPr>
        <p:spPr>
          <a:xfrm>
            <a:off x="6949440" y="1645920"/>
            <a:ext cx="4389120" cy="2011680"/>
          </a:xfrm>
          <a:prstGeom prst="roundRect">
            <a:avLst/>
          </a:prstGeom>
          <a:solidFill>
            <a:srgbClr val="F5F7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040880" y="1828800"/>
            <a:ext cx="4206240" cy="1645920"/>
          </a:xfrm>
          <a:prstGeom prst="rect">
            <a:avLst/>
          </a:prstGeom>
          <a:noFill/>
        </p:spPr>
        <p:txBody>
          <a:bodyPr wrap="square">
            <a:spAutoFit/>
          </a:bodyPr>
          <a:lstStyle/>
          <a:p>
            <a:pPr algn="ctr">
              <a:defRPr sz="5400" b="1">
                <a:solidFill>
                  <a:srgbClr val="4361EE"/>
                </a:solidFill>
                <a:latin typeface="Segoe UI"/>
              </a:defRPr>
            </a:pPr>
            <a:r>
              <a:t>0</a:t>
            </a:r>
          </a:p>
          <a:p>
            <a:pPr algn="ctr">
              <a:defRPr sz="1400">
                <a:solidFill>
                  <a:srgbClr val="2D2D44"/>
                </a:solidFill>
                <a:latin typeface="Segoe UI"/>
              </a:defRPr>
            </a:pPr>
            <a:r>
              <a:t>learnable parameters in our classifier</a:t>
            </a:r>
          </a:p>
        </p:txBody>
      </p:sp>
      <p:sp>
        <p:nvSpPr>
          <p:cNvPr id="7" name="Rounded Rectangle 6"/>
          <p:cNvSpPr/>
          <p:nvPr/>
        </p:nvSpPr>
        <p:spPr>
          <a:xfrm>
            <a:off x="6949440" y="3931920"/>
            <a:ext cx="4389120" cy="2011680"/>
          </a:xfrm>
          <a:prstGeom prst="roundRect">
            <a:avLst/>
          </a:prstGeom>
          <a:solidFill>
            <a:srgbClr val="FFF5F5"/>
          </a:solidFill>
          <a:ln w="19050">
            <a:solidFill>
              <a:srgbClr val="F557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0" y="4114800"/>
            <a:ext cx="4206240" cy="1645920"/>
          </a:xfrm>
          <a:prstGeom prst="rect">
            <a:avLst/>
          </a:prstGeom>
          <a:noFill/>
        </p:spPr>
        <p:txBody>
          <a:bodyPr wrap="square">
            <a:spAutoFit/>
          </a:bodyPr>
          <a:lstStyle/>
          <a:p>
            <a:pPr algn="ctr">
              <a:defRPr sz="5400" b="1">
                <a:solidFill>
                  <a:srgbClr val="F5576C"/>
                </a:solidFill>
                <a:latin typeface="Segoe UI"/>
              </a:defRPr>
            </a:pPr>
            <a:r>
              <a:t>0</a:t>
            </a:r>
          </a:p>
          <a:p>
            <a:pPr algn="ctr">
              <a:defRPr sz="1400">
                <a:solidFill>
                  <a:srgbClr val="2D2D44"/>
                </a:solidFill>
                <a:latin typeface="Segoe UI"/>
              </a:defRPr>
            </a:pPr>
            <a:r>
              <a:t>gradient updates on target data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9144000" cy="1005840"/>
          </a:xfrm>
          <a:prstGeom prst="rect">
            <a:avLst/>
          </a:prstGeom>
          <a:noFill/>
        </p:spPr>
        <p:txBody>
          <a:bodyPr wrap="square" lIns="0" tIns="0" rIns="0" bIns="0">
            <a:spAutoFit/>
          </a:bodyPr>
          <a:lstStyle/>
          <a:p>
            <a:pPr>
              <a:defRPr sz="2800" b="1">
                <a:solidFill>
                  <a:srgbClr val="4361EE"/>
                </a:solidFill>
                <a:latin typeface="Segoe UI"/>
              </a:defRPr>
            </a:pPr>
            <a:r>
              <a:t>System Pipeline</a:t>
            </a:r>
          </a:p>
        </p:txBody>
      </p:sp>
      <p:pic>
        <p:nvPicPr>
          <p:cNvPr id="4" name="Picture 3" descr="system_diagram.png"/>
          <p:cNvPicPr>
            <a:picLocks noChangeAspect="1"/>
          </p:cNvPicPr>
          <p:nvPr/>
        </p:nvPicPr>
        <p:blipFill>
          <a:blip r:embed="rId3"/>
          <a:stretch>
            <a:fillRect/>
          </a:stretch>
        </p:blipFill>
        <p:spPr>
          <a:xfrm>
            <a:off x="2660904" y="1463040"/>
            <a:ext cx="6858000" cy="2560320"/>
          </a:xfrm>
          <a:prstGeom prst="rect">
            <a:avLst/>
          </a:prstGeom>
        </p:spPr>
      </p:pic>
      <p:sp>
        <p:nvSpPr>
          <p:cNvPr id="5" name="Rounded Rectangle 4"/>
          <p:cNvSpPr/>
          <p:nvPr/>
        </p:nvSpPr>
        <p:spPr>
          <a:xfrm>
            <a:off x="731520" y="4297680"/>
            <a:ext cx="1737360" cy="914400"/>
          </a:xfrm>
          <a:prstGeom prst="roundRect">
            <a:avLst/>
          </a:prstGeom>
          <a:solidFill>
            <a:srgbClr val="4361EE"/>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4389120"/>
            <a:ext cx="1737360" cy="731520"/>
          </a:xfrm>
          <a:prstGeom prst="rect">
            <a:avLst/>
          </a:prstGeom>
          <a:noFill/>
        </p:spPr>
        <p:txBody>
          <a:bodyPr wrap="square">
            <a:spAutoFit/>
          </a:bodyPr>
          <a:lstStyle/>
          <a:p>
            <a:pPr algn="ctr">
              <a:defRPr sz="1100" b="1">
                <a:solidFill>
                  <a:srgbClr val="FFFFFF"/>
                </a:solidFill>
                <a:latin typeface="Segoe UI"/>
              </a:defRPr>
            </a:pPr>
            <a:r>
              <a:t>CIFAR-10/100</a:t>
            </a:r>
            <a:br/>
            <a:r>
              <a:t>32×32 RGB</a:t>
            </a:r>
          </a:p>
        </p:txBody>
      </p:sp>
      <p:sp>
        <p:nvSpPr>
          <p:cNvPr id="7" name="TextBox 6"/>
          <p:cNvSpPr txBox="1"/>
          <p:nvPr/>
        </p:nvSpPr>
        <p:spPr>
          <a:xfrm>
            <a:off x="2560320" y="4526280"/>
            <a:ext cx="320040" cy="457200"/>
          </a:xfrm>
          <a:prstGeom prst="rect">
            <a:avLst/>
          </a:prstGeom>
          <a:noFill/>
        </p:spPr>
        <p:txBody>
          <a:bodyPr wrap="none">
            <a:spAutoFit/>
          </a:bodyPr>
          <a:lstStyle/>
          <a:p>
            <a:pPr algn="ctr">
              <a:defRPr sz="2200" b="1">
                <a:solidFill>
                  <a:srgbClr val="4361EE"/>
                </a:solidFill>
                <a:latin typeface="Segoe UI"/>
              </a:defRPr>
            </a:pPr>
            <a:r>
              <a:t>→</a:t>
            </a:r>
          </a:p>
        </p:txBody>
      </p:sp>
      <p:sp>
        <p:nvSpPr>
          <p:cNvPr id="8" name="Rounded Rectangle 7"/>
          <p:cNvSpPr/>
          <p:nvPr/>
        </p:nvSpPr>
        <p:spPr>
          <a:xfrm>
            <a:off x="2971800" y="4297680"/>
            <a:ext cx="1737360" cy="914400"/>
          </a:xfrm>
          <a:prstGeom prst="roundRect">
            <a:avLst/>
          </a:prstGeom>
          <a:solidFill>
            <a:srgbClr val="4361EE"/>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971800" y="4389120"/>
            <a:ext cx="1737360" cy="731520"/>
          </a:xfrm>
          <a:prstGeom prst="rect">
            <a:avLst/>
          </a:prstGeom>
          <a:noFill/>
        </p:spPr>
        <p:txBody>
          <a:bodyPr wrap="square">
            <a:spAutoFit/>
          </a:bodyPr>
          <a:lstStyle/>
          <a:p>
            <a:pPr algn="ctr">
              <a:defRPr sz="1100" b="1">
                <a:solidFill>
                  <a:srgbClr val="FFFFFF"/>
                </a:solidFill>
                <a:latin typeface="Segoe UI"/>
              </a:defRPr>
            </a:pPr>
            <a:r>
              <a:t>Frozen ViT-S</a:t>
            </a:r>
            <a:br/>
            <a:r>
              <a:t>SSL Backbone</a:t>
            </a:r>
          </a:p>
        </p:txBody>
      </p:sp>
      <p:sp>
        <p:nvSpPr>
          <p:cNvPr id="10" name="TextBox 9"/>
          <p:cNvSpPr txBox="1"/>
          <p:nvPr/>
        </p:nvSpPr>
        <p:spPr>
          <a:xfrm>
            <a:off x="4800600" y="4526280"/>
            <a:ext cx="320040" cy="457200"/>
          </a:xfrm>
          <a:prstGeom prst="rect">
            <a:avLst/>
          </a:prstGeom>
          <a:noFill/>
        </p:spPr>
        <p:txBody>
          <a:bodyPr wrap="none">
            <a:spAutoFit/>
          </a:bodyPr>
          <a:lstStyle/>
          <a:p>
            <a:pPr algn="ctr">
              <a:defRPr sz="2200" b="1">
                <a:solidFill>
                  <a:srgbClr val="4361EE"/>
                </a:solidFill>
                <a:latin typeface="Segoe UI"/>
              </a:defRPr>
            </a:pPr>
            <a:r>
              <a:t>→</a:t>
            </a:r>
          </a:p>
        </p:txBody>
      </p:sp>
      <p:sp>
        <p:nvSpPr>
          <p:cNvPr id="11" name="Rounded Rectangle 10"/>
          <p:cNvSpPr/>
          <p:nvPr/>
        </p:nvSpPr>
        <p:spPr>
          <a:xfrm>
            <a:off x="5212080" y="4297680"/>
            <a:ext cx="1737360" cy="914400"/>
          </a:xfrm>
          <a:prstGeom prst="roundRect">
            <a:avLst/>
          </a:prstGeom>
          <a:solidFill>
            <a:srgbClr val="4361EE"/>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212080" y="4389120"/>
            <a:ext cx="1737360" cy="731520"/>
          </a:xfrm>
          <a:prstGeom prst="rect">
            <a:avLst/>
          </a:prstGeom>
          <a:noFill/>
        </p:spPr>
        <p:txBody>
          <a:bodyPr wrap="square">
            <a:spAutoFit/>
          </a:bodyPr>
          <a:lstStyle/>
          <a:p>
            <a:pPr algn="ctr">
              <a:defRPr sz="1100" b="1">
                <a:solidFill>
                  <a:srgbClr val="FFFFFF"/>
                </a:solidFill>
                <a:latin typeface="Segoe UI"/>
              </a:defRPr>
            </a:pPr>
            <a:r>
              <a:t>Features</a:t>
            </a:r>
            <a:br/>
            <a:r>
              <a:t>[CLS] / MeanPool</a:t>
            </a:r>
            <a:br/>
            <a:r>
              <a:t>L2-Norm</a:t>
            </a:r>
          </a:p>
        </p:txBody>
      </p:sp>
      <p:sp>
        <p:nvSpPr>
          <p:cNvPr id="13" name="TextBox 12"/>
          <p:cNvSpPr txBox="1"/>
          <p:nvPr/>
        </p:nvSpPr>
        <p:spPr>
          <a:xfrm>
            <a:off x="7040880" y="4526280"/>
            <a:ext cx="320040" cy="457200"/>
          </a:xfrm>
          <a:prstGeom prst="rect">
            <a:avLst/>
          </a:prstGeom>
          <a:noFill/>
        </p:spPr>
        <p:txBody>
          <a:bodyPr wrap="none">
            <a:spAutoFit/>
          </a:bodyPr>
          <a:lstStyle/>
          <a:p>
            <a:pPr algn="ctr">
              <a:defRPr sz="2200" b="1">
                <a:solidFill>
                  <a:srgbClr val="4361EE"/>
                </a:solidFill>
                <a:latin typeface="Segoe UI"/>
              </a:defRPr>
            </a:pPr>
            <a:r>
              <a:t>→</a:t>
            </a:r>
          </a:p>
        </p:txBody>
      </p:sp>
      <p:sp>
        <p:nvSpPr>
          <p:cNvPr id="14" name="Rounded Rectangle 13"/>
          <p:cNvSpPr/>
          <p:nvPr/>
        </p:nvSpPr>
        <p:spPr>
          <a:xfrm>
            <a:off x="7452360" y="4297680"/>
            <a:ext cx="1737360" cy="914400"/>
          </a:xfrm>
          <a:prstGeom prst="roundRect">
            <a:avLst/>
          </a:prstGeom>
          <a:solidFill>
            <a:srgbClr val="4361EE"/>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52360" y="4389120"/>
            <a:ext cx="1737360" cy="731520"/>
          </a:xfrm>
          <a:prstGeom prst="rect">
            <a:avLst/>
          </a:prstGeom>
          <a:noFill/>
        </p:spPr>
        <p:txBody>
          <a:bodyPr wrap="square">
            <a:spAutoFit/>
          </a:bodyPr>
          <a:lstStyle/>
          <a:p>
            <a:pPr algn="ctr">
              <a:defRPr sz="1100" b="1">
                <a:solidFill>
                  <a:srgbClr val="FFFFFF"/>
                </a:solidFill>
                <a:latin typeface="Segoe UI"/>
              </a:defRPr>
            </a:pPr>
            <a:r>
              <a:t>kNN Vote</a:t>
            </a:r>
            <a:br/>
            <a:r>
              <a:t>k=1,5,20</a:t>
            </a:r>
            <a:br/>
            <a:r>
              <a:t>N shots</a:t>
            </a:r>
          </a:p>
        </p:txBody>
      </p:sp>
      <p:sp>
        <p:nvSpPr>
          <p:cNvPr id="16" name="TextBox 15"/>
          <p:cNvSpPr txBox="1"/>
          <p:nvPr/>
        </p:nvSpPr>
        <p:spPr>
          <a:xfrm>
            <a:off x="9281160" y="4526280"/>
            <a:ext cx="320040" cy="457200"/>
          </a:xfrm>
          <a:prstGeom prst="rect">
            <a:avLst/>
          </a:prstGeom>
          <a:noFill/>
        </p:spPr>
        <p:txBody>
          <a:bodyPr wrap="none">
            <a:spAutoFit/>
          </a:bodyPr>
          <a:lstStyle/>
          <a:p>
            <a:pPr algn="ctr">
              <a:defRPr sz="2200" b="1">
                <a:solidFill>
                  <a:srgbClr val="4361EE"/>
                </a:solidFill>
                <a:latin typeface="Segoe UI"/>
              </a:defRPr>
            </a:pPr>
            <a:r>
              <a:t>→</a:t>
            </a:r>
          </a:p>
        </p:txBody>
      </p:sp>
      <p:sp>
        <p:nvSpPr>
          <p:cNvPr id="17" name="Rounded Rectangle 16"/>
          <p:cNvSpPr/>
          <p:nvPr/>
        </p:nvSpPr>
        <p:spPr>
          <a:xfrm>
            <a:off x="9692640" y="4297680"/>
            <a:ext cx="1737360" cy="914400"/>
          </a:xfrm>
          <a:prstGeom prst="roundRect">
            <a:avLst/>
          </a:prstGeom>
          <a:solidFill>
            <a:srgbClr val="11998E"/>
          </a:solidFill>
          <a:ln w="19050">
            <a:solidFill>
              <a:srgbClr val="11998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692640" y="4389120"/>
            <a:ext cx="1737360" cy="731520"/>
          </a:xfrm>
          <a:prstGeom prst="rect">
            <a:avLst/>
          </a:prstGeom>
          <a:noFill/>
        </p:spPr>
        <p:txBody>
          <a:bodyPr wrap="square">
            <a:spAutoFit/>
          </a:bodyPr>
          <a:lstStyle/>
          <a:p>
            <a:pPr algn="ctr">
              <a:defRPr sz="1100" b="1">
                <a:solidFill>
                  <a:srgbClr val="FFFFFF"/>
                </a:solidFill>
                <a:latin typeface="Segoe UI"/>
              </a:defRPr>
            </a:pPr>
            <a:r>
              <a:t>Accuracy</a:t>
            </a:r>
            <a:br/>
            <a:r>
              <a:t>Macro-F1</a:t>
            </a:r>
          </a:p>
        </p:txBody>
      </p:sp>
      <p:sp>
        <p:nvSpPr>
          <p:cNvPr id="19" name="TextBox 18"/>
          <p:cNvSpPr txBox="1"/>
          <p:nvPr/>
        </p:nvSpPr>
        <p:spPr>
          <a:xfrm>
            <a:off x="731520" y="5486400"/>
            <a:ext cx="10698480" cy="731520"/>
          </a:xfrm>
          <a:prstGeom prst="rect">
            <a:avLst/>
          </a:prstGeom>
          <a:noFill/>
        </p:spPr>
        <p:txBody>
          <a:bodyPr wrap="square">
            <a:spAutoFit/>
          </a:bodyPr>
          <a:lstStyle/>
          <a:p>
            <a:pPr algn="ctr">
              <a:defRPr sz="1200" i="1">
                <a:solidFill>
                  <a:srgbClr val="6E6E82"/>
                </a:solidFill>
                <a:latin typeface="Segoe UI"/>
              </a:defRPr>
            </a:pPr>
            <a:r>
              <a:t>All backbone weights are frozen. Classification accuracy reflects purely the geometry of the pretrained feature space.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9144000" cy="1005840"/>
          </a:xfrm>
          <a:prstGeom prst="rect">
            <a:avLst/>
          </a:prstGeom>
          <a:noFill/>
        </p:spPr>
        <p:txBody>
          <a:bodyPr wrap="square" lIns="0" tIns="0" rIns="0" bIns="0">
            <a:spAutoFit/>
          </a:bodyPr>
          <a:lstStyle/>
          <a:p>
            <a:pPr>
              <a:defRPr sz="2800" b="1">
                <a:solidFill>
                  <a:srgbClr val="4361EE"/>
                </a:solidFill>
                <a:latin typeface="Segoe UI"/>
              </a:defRPr>
            </a:pPr>
            <a:r>
              <a:t>Backbone Models (All ViT-Small)</a:t>
            </a:r>
          </a:p>
        </p:txBody>
      </p:sp>
      <p:graphicFrame>
        <p:nvGraphicFramePr>
          <p:cNvPr id="4" name="Table 3"/>
          <p:cNvGraphicFramePr>
            <a:graphicFrameLocks noGrp="1"/>
          </p:cNvGraphicFramePr>
          <p:nvPr/>
        </p:nvGraphicFramePr>
        <p:xfrm>
          <a:off x="731520" y="1645920"/>
          <a:ext cx="10725912" cy="2487168"/>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1399032">
                  <a:extLst>
                    <a:ext uri="{9D8B030D-6E8A-4147-A177-3AD203B41FA5}">
                      <a16:colId xmlns:a16="http://schemas.microsoft.com/office/drawing/2014/main" val="20003"/>
                    </a:ext>
                  </a:extLst>
                </a:gridCol>
              </a:tblGrid>
              <a:tr h="310896">
                <a:tc>
                  <a:txBody>
                    <a:bodyPr/>
                    <a:lstStyle/>
                    <a:p>
                      <a:pPr algn="ctr">
                        <a:defRPr sz="1200" b="1">
                          <a:solidFill>
                            <a:srgbClr val="FFFFFF"/>
                          </a:solidFill>
                          <a:latin typeface="Segoe UI"/>
                        </a:defRPr>
                      </a:pPr>
                      <a:r>
                        <a:t>Model</a:t>
                      </a:r>
                    </a:p>
                  </a:txBody>
                  <a:tcPr>
                    <a:solidFill>
                      <a:srgbClr val="4361EE"/>
                    </a:solidFill>
                  </a:tcPr>
                </a:tc>
                <a:tc>
                  <a:txBody>
                    <a:bodyPr/>
                    <a:lstStyle/>
                    <a:p>
                      <a:pPr algn="ctr">
                        <a:defRPr sz="1200" b="1">
                          <a:solidFill>
                            <a:srgbClr val="FFFFFF"/>
                          </a:solidFill>
                          <a:latin typeface="Segoe UI"/>
                        </a:defRPr>
                      </a:pPr>
                      <a:r>
                        <a:t>SSL Objective</a:t>
                      </a:r>
                    </a:p>
                  </a:txBody>
                  <a:tcPr>
                    <a:solidFill>
                      <a:srgbClr val="4361EE"/>
                    </a:solidFill>
                  </a:tcPr>
                </a:tc>
                <a:tc>
                  <a:txBody>
                    <a:bodyPr/>
                    <a:lstStyle/>
                    <a:p>
                      <a:pPr algn="ctr">
                        <a:defRPr sz="1200" b="1">
                          <a:solidFill>
                            <a:srgbClr val="FFFFFF"/>
                          </a:solidFill>
                          <a:latin typeface="Segoe UI"/>
                        </a:defRPr>
                      </a:pPr>
                      <a:r>
                        <a:t>Pretrain Data</a:t>
                      </a:r>
                    </a:p>
                  </a:txBody>
                  <a:tcPr>
                    <a:solidFill>
                      <a:srgbClr val="4361EE"/>
                    </a:solidFill>
                  </a:tcPr>
                </a:tc>
                <a:tc>
                  <a:txBody>
                    <a:bodyPr/>
                    <a:lstStyle/>
                    <a:p>
                      <a:pPr algn="ctr">
                        <a:defRPr sz="1200" b="1">
                          <a:solidFill>
                            <a:srgbClr val="FFFFFF"/>
                          </a:solidFill>
                          <a:latin typeface="Segoe UI"/>
                        </a:defRPr>
                      </a:pPr>
                      <a:r>
                        <a:t>Patch Size</a:t>
                      </a:r>
                    </a:p>
                  </a:txBody>
                  <a:tcPr>
                    <a:solidFill>
                      <a:srgbClr val="4361EE"/>
                    </a:solidFill>
                  </a:tcPr>
                </a:tc>
                <a:extLst>
                  <a:ext uri="{0D108BD9-81ED-4DB2-BD59-A6C34878D82A}">
                    <a16:rowId xmlns:a16="http://schemas.microsoft.com/office/drawing/2014/main" val="10000"/>
                  </a:ext>
                </a:extLst>
              </a:tr>
              <a:tr h="310896">
                <a:tc>
                  <a:txBody>
                    <a:bodyPr/>
                    <a:lstStyle/>
                    <a:p>
                      <a:pPr algn="l">
                        <a:defRPr sz="1100">
                          <a:solidFill>
                            <a:srgbClr val="2D2D44"/>
                          </a:solidFill>
                          <a:latin typeface="Segoe UI"/>
                        </a:defRPr>
                      </a:pPr>
                      <a:r>
                        <a:t>DINO ViT-S/16</a:t>
                      </a:r>
                    </a:p>
                  </a:txBody>
                  <a:tcPr>
                    <a:solidFill>
                      <a:srgbClr val="F8F9FF"/>
                    </a:solidFill>
                  </a:tcPr>
                </a:tc>
                <a:tc>
                  <a:txBody>
                    <a:bodyPr/>
                    <a:lstStyle/>
                    <a:p>
                      <a:pPr algn="ctr">
                        <a:defRPr sz="1100">
                          <a:solidFill>
                            <a:srgbClr val="2D2D44"/>
                          </a:solidFill>
                          <a:latin typeface="Segoe UI"/>
                        </a:defRPr>
                      </a:pPr>
                      <a:r>
                        <a:t>Self-distillation</a:t>
                      </a:r>
                    </a:p>
                  </a:txBody>
                  <a:tcPr>
                    <a:solidFill>
                      <a:srgbClr val="F8F9FF"/>
                    </a:solidFill>
                  </a:tcPr>
                </a:tc>
                <a:tc>
                  <a:txBody>
                    <a:bodyPr/>
                    <a:lstStyle/>
                    <a:p>
                      <a:pPr algn="ctr">
                        <a:defRPr sz="1100">
                          <a:solidFill>
                            <a:srgbClr val="2D2D44"/>
                          </a:solidFill>
                          <a:latin typeface="Segoe UI"/>
                        </a:defRPr>
                      </a:pPr>
                      <a:r>
                        <a:t>ImageNet-1K</a:t>
                      </a:r>
                    </a:p>
                  </a:txBody>
                  <a:tcPr>
                    <a:solidFill>
                      <a:srgbClr val="F8F9FF"/>
                    </a:solidFill>
                  </a:tcPr>
                </a:tc>
                <a:tc>
                  <a:txBody>
                    <a:bodyPr/>
                    <a:lstStyle/>
                    <a:p>
                      <a:pPr algn="ctr">
                        <a:defRPr sz="1100">
                          <a:solidFill>
                            <a:srgbClr val="2D2D44"/>
                          </a:solidFill>
                          <a:latin typeface="Segoe UI"/>
                        </a:defRPr>
                      </a:pPr>
                      <a:r>
                        <a:t>16</a:t>
                      </a:r>
                    </a:p>
                  </a:txBody>
                  <a:tcPr>
                    <a:solidFill>
                      <a:srgbClr val="F8F9FF"/>
                    </a:solidFill>
                  </a:tcPr>
                </a:tc>
                <a:extLst>
                  <a:ext uri="{0D108BD9-81ED-4DB2-BD59-A6C34878D82A}">
                    <a16:rowId xmlns:a16="http://schemas.microsoft.com/office/drawing/2014/main" val="10001"/>
                  </a:ext>
                </a:extLst>
              </a:tr>
              <a:tr h="310896">
                <a:tc>
                  <a:txBody>
                    <a:bodyPr/>
                    <a:lstStyle/>
                    <a:p>
                      <a:pPr algn="l">
                        <a:defRPr sz="1100">
                          <a:solidFill>
                            <a:srgbClr val="2D2D44"/>
                          </a:solidFill>
                          <a:latin typeface="Segoe UI"/>
                        </a:defRPr>
                      </a:pPr>
                      <a:r>
                        <a:t>DINOv2 ViT-S/14</a:t>
                      </a:r>
                    </a:p>
                  </a:txBody>
                  <a:tcPr>
                    <a:solidFill>
                      <a:srgbClr val="FFFFFF"/>
                    </a:solidFill>
                  </a:tcPr>
                </a:tc>
                <a:tc>
                  <a:txBody>
                    <a:bodyPr/>
                    <a:lstStyle/>
                    <a:p>
                      <a:pPr algn="ctr">
                        <a:defRPr sz="1100">
                          <a:solidFill>
                            <a:srgbClr val="2D2D44"/>
                          </a:solidFill>
                          <a:latin typeface="Segoe UI"/>
                        </a:defRPr>
                      </a:pPr>
                      <a:r>
                        <a:t>Self-dist. + MIM</a:t>
                      </a:r>
                    </a:p>
                  </a:txBody>
                  <a:tcPr>
                    <a:solidFill>
                      <a:srgbClr val="FFFFFF"/>
                    </a:solidFill>
                  </a:tcPr>
                </a:tc>
                <a:tc>
                  <a:txBody>
                    <a:bodyPr/>
                    <a:lstStyle/>
                    <a:p>
                      <a:pPr algn="ctr">
                        <a:defRPr sz="1100">
                          <a:solidFill>
                            <a:srgbClr val="2D2D44"/>
                          </a:solidFill>
                          <a:latin typeface="Segoe UI"/>
                        </a:defRPr>
                      </a:pPr>
                      <a:r>
                        <a:t>LVD-142M</a:t>
                      </a:r>
                    </a:p>
                  </a:txBody>
                  <a:tcPr>
                    <a:solidFill>
                      <a:srgbClr val="FFFFFF"/>
                    </a:solidFill>
                  </a:tcPr>
                </a:tc>
                <a:tc>
                  <a:txBody>
                    <a:bodyPr/>
                    <a:lstStyle/>
                    <a:p>
                      <a:pPr algn="ctr">
                        <a:defRPr sz="1100">
                          <a:solidFill>
                            <a:srgbClr val="2D2D44"/>
                          </a:solidFill>
                          <a:latin typeface="Segoe UI"/>
                        </a:defRPr>
                      </a:pPr>
                      <a:r>
                        <a:t>14</a:t>
                      </a:r>
                    </a:p>
                  </a:txBody>
                  <a:tcPr>
                    <a:solidFill>
                      <a:srgbClr val="FFFFFF"/>
                    </a:solidFill>
                  </a:tcPr>
                </a:tc>
                <a:extLst>
                  <a:ext uri="{0D108BD9-81ED-4DB2-BD59-A6C34878D82A}">
                    <a16:rowId xmlns:a16="http://schemas.microsoft.com/office/drawing/2014/main" val="10002"/>
                  </a:ext>
                </a:extLst>
              </a:tr>
              <a:tr h="310896">
                <a:tc>
                  <a:txBody>
                    <a:bodyPr/>
                    <a:lstStyle/>
                    <a:p>
                      <a:pPr algn="l">
                        <a:defRPr sz="1100">
                          <a:solidFill>
                            <a:srgbClr val="2D2D44"/>
                          </a:solidFill>
                          <a:latin typeface="Segoe UI"/>
                        </a:defRPr>
                      </a:pPr>
                      <a:r>
                        <a:t>DINOv2 ViT-S/14 (reg)</a:t>
                      </a:r>
                    </a:p>
                  </a:txBody>
                  <a:tcPr>
                    <a:solidFill>
                      <a:srgbClr val="F8F9FF"/>
                    </a:solidFill>
                  </a:tcPr>
                </a:tc>
                <a:tc>
                  <a:txBody>
                    <a:bodyPr/>
                    <a:lstStyle/>
                    <a:p>
                      <a:pPr algn="ctr">
                        <a:defRPr sz="1100">
                          <a:solidFill>
                            <a:srgbClr val="2D2D44"/>
                          </a:solidFill>
                          <a:latin typeface="Segoe UI"/>
                        </a:defRPr>
                      </a:pPr>
                      <a:r>
                        <a:t>Self-dist. + MIM + Registers</a:t>
                      </a:r>
                    </a:p>
                  </a:txBody>
                  <a:tcPr>
                    <a:solidFill>
                      <a:srgbClr val="F8F9FF"/>
                    </a:solidFill>
                  </a:tcPr>
                </a:tc>
                <a:tc>
                  <a:txBody>
                    <a:bodyPr/>
                    <a:lstStyle/>
                    <a:p>
                      <a:pPr algn="ctr">
                        <a:defRPr sz="1100">
                          <a:solidFill>
                            <a:srgbClr val="2D2D44"/>
                          </a:solidFill>
                          <a:latin typeface="Segoe UI"/>
                        </a:defRPr>
                      </a:pPr>
                      <a:r>
                        <a:t>LVD-142M</a:t>
                      </a:r>
                    </a:p>
                  </a:txBody>
                  <a:tcPr>
                    <a:solidFill>
                      <a:srgbClr val="F8F9FF"/>
                    </a:solidFill>
                  </a:tcPr>
                </a:tc>
                <a:tc>
                  <a:txBody>
                    <a:bodyPr/>
                    <a:lstStyle/>
                    <a:p>
                      <a:pPr algn="ctr">
                        <a:defRPr sz="1100">
                          <a:solidFill>
                            <a:srgbClr val="2D2D44"/>
                          </a:solidFill>
                          <a:latin typeface="Segoe UI"/>
                        </a:defRPr>
                      </a:pPr>
                      <a:r>
                        <a:t>14</a:t>
                      </a:r>
                    </a:p>
                  </a:txBody>
                  <a:tcPr>
                    <a:solidFill>
                      <a:srgbClr val="F8F9FF"/>
                    </a:solidFill>
                  </a:tcPr>
                </a:tc>
                <a:extLst>
                  <a:ext uri="{0D108BD9-81ED-4DB2-BD59-A6C34878D82A}">
                    <a16:rowId xmlns:a16="http://schemas.microsoft.com/office/drawing/2014/main" val="10003"/>
                  </a:ext>
                </a:extLst>
              </a:tr>
              <a:tr h="310896">
                <a:tc>
                  <a:txBody>
                    <a:bodyPr/>
                    <a:lstStyle/>
                    <a:p>
                      <a:pPr algn="l">
                        <a:defRPr sz="1100">
                          <a:solidFill>
                            <a:srgbClr val="2D2D44"/>
                          </a:solidFill>
                          <a:latin typeface="Segoe UI"/>
                        </a:defRPr>
                      </a:pPr>
                      <a:r>
                        <a:t>DINOv3 ViT-S/16</a:t>
                      </a:r>
                    </a:p>
                  </a:txBody>
                  <a:tcPr>
                    <a:solidFill>
                      <a:srgbClr val="FFFFFF"/>
                    </a:solidFill>
                  </a:tcPr>
                </a:tc>
                <a:tc>
                  <a:txBody>
                    <a:bodyPr/>
                    <a:lstStyle/>
                    <a:p>
                      <a:pPr algn="ctr">
                        <a:defRPr sz="1100">
                          <a:solidFill>
                            <a:srgbClr val="2D2D44"/>
                          </a:solidFill>
                          <a:latin typeface="Segoe UI"/>
                        </a:defRPr>
                      </a:pPr>
                      <a:r>
                        <a:t>Self-dist. (distilled)</a:t>
                      </a:r>
                    </a:p>
                  </a:txBody>
                  <a:tcPr>
                    <a:solidFill>
                      <a:srgbClr val="FFFFFF"/>
                    </a:solidFill>
                  </a:tcPr>
                </a:tc>
                <a:tc>
                  <a:txBody>
                    <a:bodyPr/>
                    <a:lstStyle/>
                    <a:p>
                      <a:pPr algn="ctr">
                        <a:defRPr sz="1100">
                          <a:solidFill>
                            <a:srgbClr val="2D2D44"/>
                          </a:solidFill>
                          <a:latin typeface="Segoe UI"/>
                        </a:defRPr>
                      </a:pPr>
                      <a:r>
                        <a:t>LVD-1689M</a:t>
                      </a:r>
                    </a:p>
                  </a:txBody>
                  <a:tcPr>
                    <a:solidFill>
                      <a:srgbClr val="FFFFFF"/>
                    </a:solidFill>
                  </a:tcPr>
                </a:tc>
                <a:tc>
                  <a:txBody>
                    <a:bodyPr/>
                    <a:lstStyle/>
                    <a:p>
                      <a:pPr algn="ctr">
                        <a:defRPr sz="1100">
                          <a:solidFill>
                            <a:srgbClr val="2D2D44"/>
                          </a:solidFill>
                          <a:latin typeface="Segoe UI"/>
                        </a:defRPr>
                      </a:pPr>
                      <a:r>
                        <a:t>16</a:t>
                      </a:r>
                    </a:p>
                  </a:txBody>
                  <a:tcPr>
                    <a:solidFill>
                      <a:srgbClr val="FFFFFF"/>
                    </a:solidFill>
                  </a:tcPr>
                </a:tc>
                <a:extLst>
                  <a:ext uri="{0D108BD9-81ED-4DB2-BD59-A6C34878D82A}">
                    <a16:rowId xmlns:a16="http://schemas.microsoft.com/office/drawing/2014/main" val="10004"/>
                  </a:ext>
                </a:extLst>
              </a:tr>
              <a:tr h="310896">
                <a:tc>
                  <a:txBody>
                    <a:bodyPr/>
                    <a:lstStyle/>
                    <a:p>
                      <a:pPr algn="l">
                        <a:defRPr sz="1100">
                          <a:solidFill>
                            <a:srgbClr val="2D2D44"/>
                          </a:solidFill>
                          <a:latin typeface="Segoe UI"/>
                        </a:defRPr>
                      </a:pPr>
                      <a:r>
                        <a:t>MoCo v3 ViT-S/16</a:t>
                      </a:r>
                    </a:p>
                  </a:txBody>
                  <a:tcPr>
                    <a:solidFill>
                      <a:srgbClr val="FFFFFF"/>
                    </a:solidFill>
                  </a:tcPr>
                </a:tc>
                <a:tc>
                  <a:txBody>
                    <a:bodyPr/>
                    <a:lstStyle/>
                    <a:p>
                      <a:pPr algn="ctr">
                        <a:defRPr sz="1100">
                          <a:solidFill>
                            <a:srgbClr val="2D2D44"/>
                          </a:solidFill>
                          <a:latin typeface="Segoe UI"/>
                        </a:defRPr>
                      </a:pPr>
                      <a:r>
                        <a:t>Momentum contrastive</a:t>
                      </a:r>
                    </a:p>
                  </a:txBody>
                  <a:tcPr>
                    <a:solidFill>
                      <a:srgbClr val="FFFFFF"/>
                    </a:solidFill>
                  </a:tcPr>
                </a:tc>
                <a:tc>
                  <a:txBody>
                    <a:bodyPr/>
                    <a:lstStyle/>
                    <a:p>
                      <a:pPr algn="ctr">
                        <a:defRPr sz="1100">
                          <a:solidFill>
                            <a:srgbClr val="2D2D44"/>
                          </a:solidFill>
                          <a:latin typeface="Segoe UI"/>
                        </a:defRPr>
                      </a:pPr>
                      <a:r>
                        <a:t>ImageNet-1K</a:t>
                      </a:r>
                    </a:p>
                  </a:txBody>
                  <a:tcPr>
                    <a:solidFill>
                      <a:srgbClr val="FFFFFF"/>
                    </a:solidFill>
                  </a:tcPr>
                </a:tc>
                <a:tc>
                  <a:txBody>
                    <a:bodyPr/>
                    <a:lstStyle/>
                    <a:p>
                      <a:pPr algn="ctr">
                        <a:defRPr sz="1100">
                          <a:solidFill>
                            <a:srgbClr val="2D2D44"/>
                          </a:solidFill>
                          <a:latin typeface="Segoe UI"/>
                        </a:defRPr>
                      </a:pPr>
                      <a:r>
                        <a:t>16</a:t>
                      </a:r>
                    </a:p>
                  </a:txBody>
                  <a:tcPr>
                    <a:solidFill>
                      <a:srgbClr val="FFFFFF"/>
                    </a:solidFill>
                  </a:tcPr>
                </a:tc>
                <a:extLst>
                  <a:ext uri="{0D108BD9-81ED-4DB2-BD59-A6C34878D82A}">
                    <a16:rowId xmlns:a16="http://schemas.microsoft.com/office/drawing/2014/main" val="10005"/>
                  </a:ext>
                </a:extLst>
              </a:tr>
              <a:tr h="310896">
                <a:tc>
                  <a:txBody>
                    <a:bodyPr/>
                    <a:lstStyle/>
                    <a:p>
                      <a:pPr algn="l">
                        <a:defRPr sz="1100">
                          <a:solidFill>
                            <a:srgbClr val="2D2D44"/>
                          </a:solidFill>
                          <a:latin typeface="Segoe UI"/>
                        </a:defRPr>
                      </a:pPr>
                      <a:r>
                        <a:t>iBOT ViT-S/16</a:t>
                      </a:r>
                    </a:p>
                  </a:txBody>
                  <a:tcPr>
                    <a:solidFill>
                      <a:srgbClr val="FFFFFF"/>
                    </a:solidFill>
                  </a:tcPr>
                </a:tc>
                <a:tc>
                  <a:txBody>
                    <a:bodyPr/>
                    <a:lstStyle/>
                    <a:p>
                      <a:pPr algn="ctr">
                        <a:defRPr sz="1100">
                          <a:solidFill>
                            <a:srgbClr val="2D2D44"/>
                          </a:solidFill>
                          <a:latin typeface="Segoe UI"/>
                        </a:defRPr>
                      </a:pPr>
                      <a:r>
                        <a:t>Self-dist. + MIM</a:t>
                      </a:r>
                    </a:p>
                  </a:txBody>
                  <a:tcPr>
                    <a:solidFill>
                      <a:srgbClr val="FFFFFF"/>
                    </a:solidFill>
                  </a:tcPr>
                </a:tc>
                <a:tc>
                  <a:txBody>
                    <a:bodyPr/>
                    <a:lstStyle/>
                    <a:p>
                      <a:pPr algn="ctr">
                        <a:defRPr sz="1100">
                          <a:solidFill>
                            <a:srgbClr val="2D2D44"/>
                          </a:solidFill>
                          <a:latin typeface="Segoe UI"/>
                        </a:defRPr>
                      </a:pPr>
                      <a:r>
                        <a:t>ImageNet-1K</a:t>
                      </a:r>
                    </a:p>
                  </a:txBody>
                  <a:tcPr>
                    <a:solidFill>
                      <a:srgbClr val="FFFFFF"/>
                    </a:solidFill>
                  </a:tcPr>
                </a:tc>
                <a:tc>
                  <a:txBody>
                    <a:bodyPr/>
                    <a:lstStyle/>
                    <a:p>
                      <a:pPr algn="ctr">
                        <a:defRPr sz="1100">
                          <a:solidFill>
                            <a:srgbClr val="2D2D44"/>
                          </a:solidFill>
                          <a:latin typeface="Segoe UI"/>
                        </a:defRPr>
                      </a:pPr>
                      <a:r>
                        <a:t>16</a:t>
                      </a:r>
                    </a:p>
                  </a:txBody>
                  <a:tcPr>
                    <a:solidFill>
                      <a:srgbClr val="FFFFFF"/>
                    </a:solidFill>
                  </a:tcPr>
                </a:tc>
                <a:extLst>
                  <a:ext uri="{0D108BD9-81ED-4DB2-BD59-A6C34878D82A}">
                    <a16:rowId xmlns:a16="http://schemas.microsoft.com/office/drawing/2014/main" val="10006"/>
                  </a:ext>
                </a:extLst>
              </a:tr>
              <a:tr h="310896">
                <a:tc>
                  <a:txBody>
                    <a:bodyPr/>
                    <a:lstStyle/>
                    <a:p>
                      <a:pPr algn="l">
                        <a:defRPr sz="1100">
                          <a:solidFill>
                            <a:srgbClr val="2D2D44"/>
                          </a:solidFill>
                          <a:latin typeface="Segoe UI"/>
                        </a:defRPr>
                      </a:pPr>
                      <a:r>
                        <a:t>AttMask ViT-S/16</a:t>
                      </a:r>
                    </a:p>
                  </a:txBody>
                  <a:tcPr>
                    <a:solidFill>
                      <a:srgbClr val="FFFFFF"/>
                    </a:solidFill>
                  </a:tcPr>
                </a:tc>
                <a:tc>
                  <a:txBody>
                    <a:bodyPr/>
                    <a:lstStyle/>
                    <a:p>
                      <a:pPr algn="ctr">
                        <a:defRPr sz="1100">
                          <a:solidFill>
                            <a:srgbClr val="2D2D44"/>
                          </a:solidFill>
                          <a:latin typeface="Segoe UI"/>
                        </a:defRPr>
                      </a:pPr>
                      <a:r>
                        <a:t>Attention-guided MIM</a:t>
                      </a:r>
                    </a:p>
                  </a:txBody>
                  <a:tcPr>
                    <a:solidFill>
                      <a:srgbClr val="FFFFFF"/>
                    </a:solidFill>
                  </a:tcPr>
                </a:tc>
                <a:tc>
                  <a:txBody>
                    <a:bodyPr/>
                    <a:lstStyle/>
                    <a:p>
                      <a:pPr algn="ctr">
                        <a:defRPr sz="1100">
                          <a:solidFill>
                            <a:srgbClr val="2D2D44"/>
                          </a:solidFill>
                          <a:latin typeface="Segoe UI"/>
                        </a:defRPr>
                      </a:pPr>
                      <a:r>
                        <a:t>ImageNet-1K</a:t>
                      </a:r>
                    </a:p>
                  </a:txBody>
                  <a:tcPr>
                    <a:solidFill>
                      <a:srgbClr val="FFFFFF"/>
                    </a:solidFill>
                  </a:tcPr>
                </a:tc>
                <a:tc>
                  <a:txBody>
                    <a:bodyPr/>
                    <a:lstStyle/>
                    <a:p>
                      <a:pPr algn="ctr">
                        <a:defRPr sz="1100">
                          <a:solidFill>
                            <a:srgbClr val="2D2D44"/>
                          </a:solidFill>
                          <a:latin typeface="Segoe UI"/>
                        </a:defRPr>
                      </a:pPr>
                      <a:r>
                        <a:t>16</a:t>
                      </a:r>
                    </a:p>
                  </a:txBody>
                  <a:tcPr>
                    <a:solidFill>
                      <a:srgbClr val="FFFFFF"/>
                    </a:solidFill>
                  </a:tcPr>
                </a:tc>
                <a:extLst>
                  <a:ext uri="{0D108BD9-81ED-4DB2-BD59-A6C34878D82A}">
                    <a16:rowId xmlns:a16="http://schemas.microsoft.com/office/drawing/2014/main" val="10007"/>
                  </a:ext>
                </a:extLst>
              </a:tr>
            </a:tbl>
          </a:graphicData>
        </a:graphic>
      </p:graphicFrame>
      <p:sp>
        <p:nvSpPr>
          <p:cNvPr id="5" name="Rounded Rectangle 4"/>
          <p:cNvSpPr/>
          <p:nvPr/>
        </p:nvSpPr>
        <p:spPr>
          <a:xfrm>
            <a:off x="731520" y="4389120"/>
            <a:ext cx="10725912" cy="1645920"/>
          </a:xfrm>
          <a:prstGeom prst="roundRect">
            <a:avLst/>
          </a:prstGeom>
          <a:solidFill>
            <a:srgbClr val="F5F7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4572000"/>
            <a:ext cx="10360152" cy="1280160"/>
          </a:xfrm>
          <a:prstGeom prst="rect">
            <a:avLst/>
          </a:prstGeom>
          <a:noFill/>
        </p:spPr>
        <p:txBody>
          <a:bodyPr wrap="square">
            <a:spAutoFit/>
          </a:bodyPr>
          <a:lstStyle/>
          <a:p>
            <a:pPr>
              <a:defRPr sz="1500">
                <a:solidFill>
                  <a:srgbClr val="2D2D44"/>
                </a:solidFill>
                <a:latin typeface="Segoe UI"/>
              </a:defRPr>
            </a:pPr>
            <a:r>
              <a:rPr sz="1500" b="1">
                <a:solidFill>
                  <a:srgbClr val="2D2D44"/>
                </a:solidFill>
                <a:latin typeface="Segoe UI"/>
              </a:rPr>
              <a:t>Why these seven?</a:t>
            </a:r>
            <a:r>
              <a:rPr sz="1500" b="0">
                <a:solidFill>
                  <a:srgbClr val="2D2D44"/>
                </a:solidFill>
                <a:latin typeface="Segoe UI"/>
              </a:rPr>
              <a:t> Same ViT-Small capacity (~22M params) → differences in accuracy are due entirely to the </a:t>
            </a:r>
            <a:r>
              <a:rPr sz="1500" b="1">
                <a:solidFill>
                  <a:srgbClr val="2D2D44"/>
                </a:solidFill>
                <a:latin typeface="Segoe UI"/>
              </a:rPr>
              <a:t>pretraining objective</a:t>
            </a:r>
            <a:r>
              <a:rPr sz="1500" b="0">
                <a:solidFill>
                  <a:srgbClr val="2D2D44"/>
                </a:solidFill>
                <a:latin typeface="Segoe UI"/>
              </a:rPr>
              <a:t>, not model size.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9144000" cy="1005840"/>
          </a:xfrm>
          <a:prstGeom prst="rect">
            <a:avLst/>
          </a:prstGeom>
          <a:noFill/>
        </p:spPr>
        <p:txBody>
          <a:bodyPr wrap="square" lIns="0" tIns="0" rIns="0" bIns="0">
            <a:spAutoFit/>
          </a:bodyPr>
          <a:lstStyle/>
          <a:p>
            <a:pPr>
              <a:defRPr sz="2800" b="1">
                <a:solidFill>
                  <a:srgbClr val="4361EE"/>
                </a:solidFill>
                <a:latin typeface="Segoe UI"/>
              </a:defRPr>
            </a:pPr>
            <a:r>
              <a:t>Methodology — kNN Classifier</a:t>
            </a:r>
          </a:p>
        </p:txBody>
      </p:sp>
      <p:sp>
        <p:nvSpPr>
          <p:cNvPr id="4" name="TextBox 3"/>
          <p:cNvSpPr txBox="1"/>
          <p:nvPr/>
        </p:nvSpPr>
        <p:spPr>
          <a:xfrm>
            <a:off x="731520" y="1645920"/>
            <a:ext cx="5029200" cy="365760"/>
          </a:xfrm>
          <a:prstGeom prst="rect">
            <a:avLst/>
          </a:prstGeom>
          <a:noFill/>
        </p:spPr>
        <p:txBody>
          <a:bodyPr wrap="none">
            <a:spAutoFit/>
          </a:bodyPr>
          <a:lstStyle/>
          <a:p>
            <a:pPr>
              <a:defRPr sz="1800" b="1">
                <a:solidFill>
                  <a:srgbClr val="4361EE"/>
                </a:solidFill>
                <a:latin typeface="Segoe UI"/>
              </a:defRPr>
            </a:pPr>
            <a:r>
              <a:t>Feature Extraction</a:t>
            </a:r>
          </a:p>
        </p:txBody>
      </p:sp>
      <p:sp>
        <p:nvSpPr>
          <p:cNvPr id="5" name="TextBox 4"/>
          <p:cNvSpPr txBox="1"/>
          <p:nvPr/>
        </p:nvSpPr>
        <p:spPr>
          <a:xfrm>
            <a:off x="731520" y="2194560"/>
            <a:ext cx="5029200" cy="3657600"/>
          </a:xfrm>
          <a:prstGeom prst="rect">
            <a:avLst/>
          </a:prstGeom>
          <a:noFill/>
        </p:spPr>
        <p:txBody>
          <a:bodyPr wrap="square" lIns="0" tIns="0" rIns="0" bIns="0">
            <a:spAutoFit/>
          </a:bodyPr>
          <a:lstStyle/>
          <a:p>
            <a:pPr>
              <a:lnSpc>
                <a:spcPct val="120000"/>
              </a:lnSpc>
              <a:spcAft>
                <a:spcPts val="800"/>
              </a:spcAft>
              <a:defRPr sz="1500">
                <a:solidFill>
                  <a:srgbClr val="2D2D44"/>
                </a:solidFill>
                <a:latin typeface="Segoe UI"/>
              </a:defRPr>
            </a:pPr>
            <a:r>
              <a:rPr sz="1500" b="0">
                <a:solidFill>
                  <a:srgbClr val="2D2D44"/>
                </a:solidFill>
                <a:latin typeface="Segoe UI"/>
              </a:rPr>
              <a:t>Bicubic upsample 32×32 → 224×224 on GPU</a:t>
            </a:r>
          </a:p>
          <a:p>
            <a:pPr>
              <a:lnSpc>
                <a:spcPct val="120000"/>
              </a:lnSpc>
              <a:spcAft>
                <a:spcPts val="800"/>
              </a:spcAft>
              <a:defRPr sz="1500">
                <a:solidFill>
                  <a:srgbClr val="2D2D44"/>
                </a:solidFill>
                <a:latin typeface="Segoe UI"/>
              </a:defRPr>
            </a:pPr>
            <a:r>
              <a:rPr sz="1500" b="0">
                <a:solidFill>
                  <a:srgbClr val="2D2D44"/>
                </a:solidFill>
                <a:latin typeface="Segoe UI"/>
              </a:rPr>
              <a:t>ImageNet normalisation</a:t>
            </a:r>
          </a:p>
          <a:p>
            <a:pPr>
              <a:lnSpc>
                <a:spcPct val="120000"/>
              </a:lnSpc>
              <a:spcAft>
                <a:spcPts val="800"/>
              </a:spcAft>
              <a:defRPr sz="1500">
                <a:solidFill>
                  <a:srgbClr val="2D2D44"/>
                </a:solidFill>
                <a:latin typeface="Segoe UI"/>
              </a:defRPr>
            </a:pPr>
            <a:r>
              <a:rPr sz="1500" b="0">
                <a:solidFill>
                  <a:srgbClr val="2D2D44"/>
                </a:solidFill>
                <a:latin typeface="Segoe UI"/>
              </a:rPr>
              <a:t>Two pooling strategies:</a:t>
            </a:r>
          </a:p>
          <a:p>
            <a:pPr lvl="1">
              <a:lnSpc>
                <a:spcPct val="120000"/>
              </a:lnSpc>
              <a:spcAft>
                <a:spcPts val="800"/>
              </a:spcAft>
              <a:defRPr sz="1300">
                <a:solidFill>
                  <a:srgbClr val="2D2D44"/>
                </a:solidFill>
                <a:latin typeface="Segoe UI"/>
              </a:defRPr>
            </a:pPr>
            <a:r>
              <a:rPr sz="1300" b="1">
                <a:solidFill>
                  <a:srgbClr val="2D2D44"/>
                </a:solidFill>
                <a:latin typeface="Segoe UI"/>
              </a:rPr>
              <a:t>CLS token</a:t>
            </a:r>
            <a:r>
              <a:rPr sz="1300" b="0">
                <a:solidFill>
                  <a:srgbClr val="2D2D44"/>
                </a:solidFill>
                <a:latin typeface="Segoe UI"/>
              </a:rPr>
              <a:t> — global summary</a:t>
            </a:r>
          </a:p>
          <a:p>
            <a:pPr lvl="1">
              <a:lnSpc>
                <a:spcPct val="120000"/>
              </a:lnSpc>
              <a:spcAft>
                <a:spcPts val="800"/>
              </a:spcAft>
              <a:defRPr sz="1300">
                <a:solidFill>
                  <a:srgbClr val="2D2D44"/>
                </a:solidFill>
                <a:latin typeface="Segoe UI"/>
              </a:defRPr>
            </a:pPr>
            <a:r>
              <a:rPr sz="1300" b="1">
                <a:solidFill>
                  <a:srgbClr val="2D2D44"/>
                </a:solidFill>
                <a:latin typeface="Segoe UI"/>
              </a:rPr>
              <a:t>Mean pool</a:t>
            </a:r>
            <a:r>
              <a:rPr sz="1300" b="0">
                <a:solidFill>
                  <a:srgbClr val="2D2D44"/>
                </a:solidFill>
                <a:latin typeface="Segoe UI"/>
              </a:rPr>
              <a:t> — avg of spatial patches</a:t>
            </a:r>
          </a:p>
          <a:p>
            <a:pPr>
              <a:lnSpc>
                <a:spcPct val="120000"/>
              </a:lnSpc>
              <a:spcAft>
                <a:spcPts val="800"/>
              </a:spcAft>
              <a:defRPr sz="1500">
                <a:solidFill>
                  <a:srgbClr val="2D2D44"/>
                </a:solidFill>
                <a:latin typeface="Segoe UI"/>
              </a:defRPr>
            </a:pPr>
            <a:r>
              <a:rPr sz="1500" b="0">
                <a:solidFill>
                  <a:srgbClr val="2D2D44"/>
                </a:solidFill>
                <a:latin typeface="Segoe UI"/>
              </a:rPr>
              <a:t>L2 normalisation → cosine sim = dot product</a:t>
            </a:r>
          </a:p>
        </p:txBody>
      </p:sp>
      <p:sp>
        <p:nvSpPr>
          <p:cNvPr id="6" name="TextBox 5"/>
          <p:cNvSpPr txBox="1"/>
          <p:nvPr/>
        </p:nvSpPr>
        <p:spPr>
          <a:xfrm>
            <a:off x="6400800" y="1645920"/>
            <a:ext cx="5029200" cy="365760"/>
          </a:xfrm>
          <a:prstGeom prst="rect">
            <a:avLst/>
          </a:prstGeom>
          <a:noFill/>
        </p:spPr>
        <p:txBody>
          <a:bodyPr wrap="none">
            <a:spAutoFit/>
          </a:bodyPr>
          <a:lstStyle/>
          <a:p>
            <a:pPr>
              <a:defRPr sz="1800" b="1">
                <a:solidFill>
                  <a:srgbClr val="4361EE"/>
                </a:solidFill>
                <a:latin typeface="Segoe UI"/>
              </a:defRPr>
            </a:pPr>
            <a:r>
              <a:t>DINO-style Weighted kNN</a:t>
            </a:r>
          </a:p>
        </p:txBody>
      </p:sp>
      <p:sp>
        <p:nvSpPr>
          <p:cNvPr id="7" name="Rounded Rectangle 6"/>
          <p:cNvSpPr/>
          <p:nvPr/>
        </p:nvSpPr>
        <p:spPr>
          <a:xfrm>
            <a:off x="6400800" y="2103120"/>
            <a:ext cx="5029200" cy="1097280"/>
          </a:xfrm>
          <a:prstGeom prst="roundRect">
            <a:avLst/>
          </a:prstGeom>
          <a:solidFill>
            <a:srgbClr val="F8F9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2286000"/>
            <a:ext cx="4846320" cy="731520"/>
          </a:xfrm>
          <a:prstGeom prst="rect">
            <a:avLst/>
          </a:prstGeom>
          <a:noFill/>
        </p:spPr>
        <p:txBody>
          <a:bodyPr wrap="square">
            <a:spAutoFit/>
          </a:bodyPr>
          <a:lstStyle/>
          <a:p>
            <a:pPr algn="ctr">
              <a:defRPr sz="1400" b="1">
                <a:solidFill>
                  <a:srgbClr val="2D2D44"/>
                </a:solidFill>
                <a:latin typeface="Courier New"/>
              </a:defRPr>
            </a:pPr>
            <a:r>
              <a:t>ŷ = argmax_c Σ_{i ∈ N_k} exp(sim(x, x_i) / τ) · 𝟙[y_i = c]</a:t>
            </a:r>
          </a:p>
        </p:txBody>
      </p:sp>
      <p:sp>
        <p:nvSpPr>
          <p:cNvPr id="9" name="TextBox 8"/>
          <p:cNvSpPr txBox="1"/>
          <p:nvPr/>
        </p:nvSpPr>
        <p:spPr>
          <a:xfrm>
            <a:off x="6400800" y="3383280"/>
            <a:ext cx="5029200" cy="2743200"/>
          </a:xfrm>
          <a:prstGeom prst="rect">
            <a:avLst/>
          </a:prstGeom>
          <a:noFill/>
        </p:spPr>
        <p:txBody>
          <a:bodyPr wrap="square" lIns="0" tIns="0" rIns="0" bIns="0">
            <a:spAutoFit/>
          </a:bodyPr>
          <a:lstStyle/>
          <a:p>
            <a:pPr>
              <a:lnSpc>
                <a:spcPct val="120000"/>
              </a:lnSpc>
              <a:spcAft>
                <a:spcPts val="800"/>
              </a:spcAft>
              <a:defRPr sz="1500">
                <a:solidFill>
                  <a:srgbClr val="2D2D44"/>
                </a:solidFill>
                <a:latin typeface="Segoe UI"/>
              </a:defRPr>
            </a:pPr>
            <a:r>
              <a:rPr sz="1500" b="0">
                <a:solidFill>
                  <a:srgbClr val="2D2D44"/>
                </a:solidFill>
                <a:latin typeface="Segoe UI"/>
              </a:rPr>
              <a:t>Temperature </a:t>
            </a:r>
            <a:r>
              <a:rPr sz="1500" b="1">
                <a:solidFill>
                  <a:srgbClr val="2D2D44"/>
                </a:solidFill>
                <a:latin typeface="Segoe UI"/>
              </a:rPr>
              <a:t>τ = 0.07</a:t>
            </a:r>
            <a:r>
              <a:rPr sz="1500" b="0">
                <a:solidFill>
                  <a:srgbClr val="2D2D44"/>
                </a:solidFill>
                <a:latin typeface="Segoe UI"/>
              </a:rPr>
              <a:t> (sharpens similarity)</a:t>
            </a:r>
          </a:p>
          <a:p>
            <a:pPr>
              <a:lnSpc>
                <a:spcPct val="120000"/>
              </a:lnSpc>
              <a:spcAft>
                <a:spcPts val="800"/>
              </a:spcAft>
              <a:defRPr sz="1500">
                <a:solidFill>
                  <a:srgbClr val="2D2D44"/>
                </a:solidFill>
                <a:latin typeface="Segoe UI"/>
              </a:defRPr>
            </a:pPr>
            <a:r>
              <a:rPr sz="1500" b="0">
                <a:solidFill>
                  <a:srgbClr val="2D2D44"/>
                </a:solidFill>
                <a:latin typeface="Segoe UI"/>
              </a:rPr>
              <a:t>Fully vectorised via `scatter_add`</a:t>
            </a:r>
          </a:p>
          <a:p>
            <a:pPr>
              <a:lnSpc>
                <a:spcPct val="120000"/>
              </a:lnSpc>
              <a:spcAft>
                <a:spcPts val="800"/>
              </a:spcAft>
              <a:defRPr sz="1500">
                <a:solidFill>
                  <a:srgbClr val="2D2D44"/>
                </a:solidFill>
                <a:latin typeface="Segoe UI"/>
              </a:defRPr>
            </a:pPr>
            <a:r>
              <a:rPr sz="1500" b="0">
                <a:solidFill>
                  <a:srgbClr val="2D2D44"/>
                </a:solidFill>
                <a:latin typeface="Segoe UI"/>
              </a:rPr>
              <a:t>No Python loops over test samples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9144000" cy="1005840"/>
          </a:xfrm>
          <a:prstGeom prst="rect">
            <a:avLst/>
          </a:prstGeom>
          <a:noFill/>
        </p:spPr>
        <p:txBody>
          <a:bodyPr wrap="square" lIns="0" tIns="0" rIns="0" bIns="0">
            <a:spAutoFit/>
          </a:bodyPr>
          <a:lstStyle/>
          <a:p>
            <a:pPr>
              <a:defRPr sz="2800" b="1">
                <a:solidFill>
                  <a:srgbClr val="4361EE"/>
                </a:solidFill>
                <a:latin typeface="Segoe UI"/>
              </a:defRPr>
            </a:pPr>
            <a:r>
              <a:t>Experimental Grid — 1,764 Conditions</a:t>
            </a:r>
          </a:p>
        </p:txBody>
      </p:sp>
      <p:sp>
        <p:nvSpPr>
          <p:cNvPr id="4" name="Rounded Rectangle 3"/>
          <p:cNvSpPr/>
          <p:nvPr/>
        </p:nvSpPr>
        <p:spPr>
          <a:xfrm>
            <a:off x="731520" y="1645920"/>
            <a:ext cx="2377440" cy="2286000"/>
          </a:xfrm>
          <a:prstGeom prst="roundRect">
            <a:avLst/>
          </a:prstGeom>
          <a:solidFill>
            <a:srgbClr val="F8F9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1783080"/>
            <a:ext cx="2194560" cy="307777"/>
          </a:xfrm>
          <a:prstGeom prst="rect">
            <a:avLst/>
          </a:prstGeom>
          <a:noFill/>
        </p:spPr>
        <p:txBody>
          <a:bodyPr wrap="square">
            <a:spAutoFit/>
          </a:bodyPr>
          <a:lstStyle/>
          <a:p>
            <a:pPr algn="ctr">
              <a:defRPr sz="1400" b="1">
                <a:solidFill>
                  <a:srgbClr val="4361EE"/>
                </a:solidFill>
                <a:latin typeface="Segoe UI"/>
              </a:defRPr>
            </a:pPr>
            <a:r>
              <a:rPr dirty="0"/>
              <a:t> Datasets</a:t>
            </a:r>
          </a:p>
        </p:txBody>
      </p:sp>
      <p:sp>
        <p:nvSpPr>
          <p:cNvPr id="6" name="Rectangle 5"/>
          <p:cNvSpPr/>
          <p:nvPr/>
        </p:nvSpPr>
        <p:spPr>
          <a:xfrm>
            <a:off x="1005840" y="2286000"/>
            <a:ext cx="1828800" cy="18288"/>
          </a:xfrm>
          <a:prstGeom prst="rect">
            <a:avLst/>
          </a:prstGeom>
          <a:solidFill>
            <a:srgbClr val="4361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2377440"/>
            <a:ext cx="2194560" cy="1463040"/>
          </a:xfrm>
          <a:prstGeom prst="rect">
            <a:avLst/>
          </a:prstGeom>
          <a:noFill/>
        </p:spPr>
        <p:txBody>
          <a:bodyPr wrap="square">
            <a:spAutoFit/>
          </a:bodyPr>
          <a:lstStyle/>
          <a:p>
            <a:pPr algn="ctr">
              <a:defRPr sz="1100">
                <a:solidFill>
                  <a:srgbClr val="2D2D44"/>
                </a:solidFill>
                <a:latin typeface="Segoe UI"/>
              </a:defRPr>
            </a:pPr>
            <a:r>
              <a:t>CIFAR-10 (10 classes)</a:t>
            </a:r>
            <a:br/>
            <a:r>
              <a:t>CIFAR-100 (100 classes)</a:t>
            </a:r>
          </a:p>
        </p:txBody>
      </p:sp>
      <p:sp>
        <p:nvSpPr>
          <p:cNvPr id="8" name="Rounded Rectangle 7"/>
          <p:cNvSpPr/>
          <p:nvPr/>
        </p:nvSpPr>
        <p:spPr>
          <a:xfrm>
            <a:off x="3511296" y="1645920"/>
            <a:ext cx="2377440" cy="2286000"/>
          </a:xfrm>
          <a:prstGeom prst="roundRect">
            <a:avLst/>
          </a:prstGeom>
          <a:solidFill>
            <a:srgbClr val="F8F9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02736" y="1783080"/>
            <a:ext cx="2194560" cy="307777"/>
          </a:xfrm>
          <a:prstGeom prst="rect">
            <a:avLst/>
          </a:prstGeom>
          <a:noFill/>
        </p:spPr>
        <p:txBody>
          <a:bodyPr wrap="square">
            <a:spAutoFit/>
          </a:bodyPr>
          <a:lstStyle/>
          <a:p>
            <a:pPr algn="ctr">
              <a:defRPr sz="1400" b="1">
                <a:solidFill>
                  <a:srgbClr val="4361EE"/>
                </a:solidFill>
                <a:latin typeface="Segoe UI"/>
              </a:defRPr>
            </a:pPr>
            <a:r>
              <a:rPr dirty="0"/>
              <a:t> Backbones</a:t>
            </a:r>
          </a:p>
        </p:txBody>
      </p:sp>
      <p:sp>
        <p:nvSpPr>
          <p:cNvPr id="10" name="Rectangle 9"/>
          <p:cNvSpPr/>
          <p:nvPr/>
        </p:nvSpPr>
        <p:spPr>
          <a:xfrm>
            <a:off x="3785616" y="2286000"/>
            <a:ext cx="1828800" cy="18288"/>
          </a:xfrm>
          <a:prstGeom prst="rect">
            <a:avLst/>
          </a:prstGeom>
          <a:solidFill>
            <a:srgbClr val="4361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02736" y="2377440"/>
            <a:ext cx="2194560" cy="1463040"/>
          </a:xfrm>
          <a:prstGeom prst="rect">
            <a:avLst/>
          </a:prstGeom>
          <a:noFill/>
        </p:spPr>
        <p:txBody>
          <a:bodyPr wrap="square">
            <a:spAutoFit/>
          </a:bodyPr>
          <a:lstStyle/>
          <a:p>
            <a:pPr algn="ctr">
              <a:defRPr sz="1100">
                <a:solidFill>
                  <a:srgbClr val="2D2D44"/>
                </a:solidFill>
                <a:latin typeface="Segoe UI"/>
              </a:defRPr>
            </a:pPr>
            <a:r>
              <a:t>7 SSL models</a:t>
            </a:r>
            <a:br/>
            <a:r>
              <a:t>(DINO, DINOv2, DINOv2-reg, DINOv3, MoCo v3, iBOT, AttMask)</a:t>
            </a:r>
          </a:p>
        </p:txBody>
      </p:sp>
      <p:sp>
        <p:nvSpPr>
          <p:cNvPr id="12" name="Rounded Rectangle 11"/>
          <p:cNvSpPr/>
          <p:nvPr/>
        </p:nvSpPr>
        <p:spPr>
          <a:xfrm>
            <a:off x="6291072" y="1645920"/>
            <a:ext cx="2377440" cy="2286000"/>
          </a:xfrm>
          <a:prstGeom prst="roundRect">
            <a:avLst/>
          </a:prstGeom>
          <a:solidFill>
            <a:srgbClr val="F8F9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82512" y="1783080"/>
            <a:ext cx="2194560" cy="307777"/>
          </a:xfrm>
          <a:prstGeom prst="rect">
            <a:avLst/>
          </a:prstGeom>
          <a:noFill/>
        </p:spPr>
        <p:txBody>
          <a:bodyPr wrap="square">
            <a:spAutoFit/>
          </a:bodyPr>
          <a:lstStyle/>
          <a:p>
            <a:pPr algn="ctr">
              <a:defRPr sz="1400" b="1">
                <a:solidFill>
                  <a:srgbClr val="4361EE"/>
                </a:solidFill>
                <a:latin typeface="Segoe UI"/>
              </a:defRPr>
            </a:pPr>
            <a:r>
              <a:rPr dirty="0"/>
              <a:t>Shots N</a:t>
            </a:r>
          </a:p>
        </p:txBody>
      </p:sp>
      <p:sp>
        <p:nvSpPr>
          <p:cNvPr id="14" name="Rectangle 13"/>
          <p:cNvSpPr/>
          <p:nvPr/>
        </p:nvSpPr>
        <p:spPr>
          <a:xfrm>
            <a:off x="6565392" y="2286000"/>
            <a:ext cx="1828800" cy="18288"/>
          </a:xfrm>
          <a:prstGeom prst="rect">
            <a:avLst/>
          </a:prstGeom>
          <a:solidFill>
            <a:srgbClr val="4361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82512" y="2377440"/>
            <a:ext cx="2194560" cy="1463040"/>
          </a:xfrm>
          <a:prstGeom prst="rect">
            <a:avLst/>
          </a:prstGeom>
          <a:noFill/>
        </p:spPr>
        <p:txBody>
          <a:bodyPr wrap="square">
            <a:spAutoFit/>
          </a:bodyPr>
          <a:lstStyle/>
          <a:p>
            <a:pPr algn="ctr">
              <a:defRPr sz="1100">
                <a:solidFill>
                  <a:srgbClr val="2D2D44"/>
                </a:solidFill>
                <a:latin typeface="Segoe UI"/>
              </a:defRPr>
            </a:pPr>
            <a:r>
              <a:t>1, 2, 5, 10, 20, 50, 100</a:t>
            </a:r>
            <a:br/>
            <a:r>
              <a:t>per class</a:t>
            </a:r>
          </a:p>
        </p:txBody>
      </p:sp>
      <p:sp>
        <p:nvSpPr>
          <p:cNvPr id="16" name="Rounded Rectangle 15"/>
          <p:cNvSpPr/>
          <p:nvPr/>
        </p:nvSpPr>
        <p:spPr>
          <a:xfrm>
            <a:off x="9070848" y="1645920"/>
            <a:ext cx="2377440" cy="2286000"/>
          </a:xfrm>
          <a:prstGeom prst="roundRect">
            <a:avLst/>
          </a:prstGeom>
          <a:solidFill>
            <a:srgbClr val="F8F9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62288" y="1783080"/>
            <a:ext cx="2194560" cy="307777"/>
          </a:xfrm>
          <a:prstGeom prst="rect">
            <a:avLst/>
          </a:prstGeom>
          <a:noFill/>
        </p:spPr>
        <p:txBody>
          <a:bodyPr wrap="square">
            <a:spAutoFit/>
          </a:bodyPr>
          <a:lstStyle/>
          <a:p>
            <a:pPr algn="ctr">
              <a:defRPr sz="1400" b="1">
                <a:solidFill>
                  <a:srgbClr val="4361EE"/>
                </a:solidFill>
                <a:latin typeface="Segoe UI"/>
              </a:defRPr>
            </a:pPr>
            <a:r>
              <a:rPr dirty="0" err="1"/>
              <a:t>Hyperparams</a:t>
            </a:r>
            <a:endParaRPr dirty="0"/>
          </a:p>
        </p:txBody>
      </p:sp>
      <p:sp>
        <p:nvSpPr>
          <p:cNvPr id="18" name="Rectangle 17"/>
          <p:cNvSpPr/>
          <p:nvPr/>
        </p:nvSpPr>
        <p:spPr>
          <a:xfrm>
            <a:off x="9345168" y="2286000"/>
            <a:ext cx="1828800" cy="18288"/>
          </a:xfrm>
          <a:prstGeom prst="rect">
            <a:avLst/>
          </a:prstGeom>
          <a:solidFill>
            <a:srgbClr val="4361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62288" y="2377440"/>
            <a:ext cx="2194560" cy="1463040"/>
          </a:xfrm>
          <a:prstGeom prst="rect">
            <a:avLst/>
          </a:prstGeom>
          <a:noFill/>
        </p:spPr>
        <p:txBody>
          <a:bodyPr wrap="square">
            <a:spAutoFit/>
          </a:bodyPr>
          <a:lstStyle/>
          <a:p>
            <a:pPr algn="ctr">
              <a:defRPr sz="1100">
                <a:solidFill>
                  <a:srgbClr val="2D2D44"/>
                </a:solidFill>
                <a:latin typeface="Segoe UI"/>
              </a:defRPr>
            </a:pPr>
            <a:r>
              <a:t>k ∈ {1, 5, 20}</a:t>
            </a:r>
            <a:br/>
            <a:r>
              <a:t>Pool: CLS / MeanPool</a:t>
            </a:r>
            <a:br/>
            <a:r>
              <a:t>3 seeds per config</a:t>
            </a:r>
          </a:p>
        </p:txBody>
      </p:sp>
      <p:sp>
        <p:nvSpPr>
          <p:cNvPr id="20" name="Rounded Rectangle 19"/>
          <p:cNvSpPr/>
          <p:nvPr/>
        </p:nvSpPr>
        <p:spPr>
          <a:xfrm>
            <a:off x="731520" y="4389120"/>
            <a:ext cx="10725912" cy="1645920"/>
          </a:xfrm>
          <a:prstGeom prst="roundRect">
            <a:avLst/>
          </a:prstGeom>
          <a:solidFill>
            <a:srgbClr val="FFF5F5"/>
          </a:solidFill>
          <a:ln w="19050">
            <a:solidFill>
              <a:srgbClr val="F557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4846320"/>
            <a:ext cx="10360152" cy="914400"/>
          </a:xfrm>
          <a:prstGeom prst="rect">
            <a:avLst/>
          </a:prstGeom>
          <a:noFill/>
        </p:spPr>
        <p:txBody>
          <a:bodyPr wrap="square">
            <a:spAutoFit/>
          </a:bodyPr>
          <a:lstStyle/>
          <a:p>
            <a:pPr algn="ctr">
              <a:defRPr sz="1800" b="1">
                <a:solidFill>
                  <a:srgbClr val="F5576C"/>
                </a:solidFill>
                <a:latin typeface="Segoe UI"/>
              </a:defRPr>
            </a:pPr>
            <a:r>
              <a:t>7 models × 2 datasets × 2 pooling × 7 N × 3 k × 3 seeds = 1,764 evaluated conditions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764BA2"/>
        </a:solidFill>
        <a:effectLst/>
      </p:bgPr>
    </p:bg>
    <p:spTree>
      <p:nvGrpSpPr>
        <p:cNvPr id="1" name=""/>
        <p:cNvGrpSpPr/>
        <p:nvPr/>
      </p:nvGrpSpPr>
      <p:grpSpPr>
        <a:xfrm>
          <a:off x="0" y="0"/>
          <a:ext cx="0" cy="0"/>
          <a:chOff x="0" y="0"/>
          <a:chExt cx="0" cy="0"/>
        </a:xfrm>
      </p:grpSpPr>
      <p:sp>
        <p:nvSpPr>
          <p:cNvPr id="2" name="TextBox 1"/>
          <p:cNvSpPr txBox="1"/>
          <p:nvPr/>
        </p:nvSpPr>
        <p:spPr>
          <a:xfrm>
            <a:off x="731520" y="2377440"/>
            <a:ext cx="10698480" cy="2011680"/>
          </a:xfrm>
          <a:prstGeom prst="rect">
            <a:avLst/>
          </a:prstGeom>
          <a:noFill/>
        </p:spPr>
        <p:txBody>
          <a:bodyPr wrap="square">
            <a:spAutoFit/>
          </a:bodyPr>
          <a:lstStyle/>
          <a:p>
            <a:pPr algn="ctr">
              <a:defRPr sz="5400" b="1">
                <a:solidFill>
                  <a:srgbClr val="FFFFFF"/>
                </a:solidFill>
                <a:latin typeface="Segoe UI"/>
              </a:defRPr>
            </a:pPr>
            <a:r>
              <a:t>Results</a:t>
            </a:r>
          </a:p>
          <a:p>
            <a:pPr algn="ctr">
              <a:spcBef>
                <a:spcPts val="1500"/>
              </a:spcBef>
              <a:defRPr sz="2200">
                <a:solidFill>
                  <a:srgbClr val="E0E7FF"/>
                </a:solidFill>
                <a:latin typeface="Segoe UI"/>
              </a:defRPr>
            </a:pPr>
            <a:r>
              <a:t>How do the backbones compare?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9144000" cy="1005840"/>
          </a:xfrm>
          <a:prstGeom prst="rect">
            <a:avLst/>
          </a:prstGeom>
          <a:noFill/>
        </p:spPr>
        <p:txBody>
          <a:bodyPr wrap="square" lIns="0" tIns="0" rIns="0" bIns="0">
            <a:spAutoFit/>
          </a:bodyPr>
          <a:lstStyle/>
          <a:p>
            <a:pPr>
              <a:defRPr sz="2800" b="1">
                <a:solidFill>
                  <a:srgbClr val="4361EE"/>
                </a:solidFill>
                <a:latin typeface="Segoe UI"/>
              </a:defRPr>
            </a:pPr>
            <a:r>
              <a:t>Accuracy vs. Shots — All Models (CLS, k=5)</a:t>
            </a:r>
          </a:p>
        </p:txBody>
      </p:sp>
      <p:sp>
        <p:nvSpPr>
          <p:cNvPr id="5" name="TextBox 4"/>
          <p:cNvSpPr txBox="1"/>
          <p:nvPr/>
        </p:nvSpPr>
        <p:spPr>
          <a:xfrm>
            <a:off x="6675120" y="1645920"/>
            <a:ext cx="4754880" cy="4114800"/>
          </a:xfrm>
          <a:prstGeom prst="rect">
            <a:avLst/>
          </a:prstGeom>
          <a:noFill/>
        </p:spPr>
        <p:txBody>
          <a:bodyPr wrap="square" lIns="0" tIns="0" rIns="0" bIns="0">
            <a:spAutoFit/>
          </a:bodyPr>
          <a:lstStyle/>
          <a:p>
            <a:pPr>
              <a:lnSpc>
                <a:spcPct val="120000"/>
              </a:lnSpc>
              <a:spcAft>
                <a:spcPts val="800"/>
              </a:spcAft>
              <a:defRPr sz="1500">
                <a:solidFill>
                  <a:srgbClr val="2D2D44"/>
                </a:solidFill>
                <a:latin typeface="Segoe UI"/>
              </a:defRPr>
            </a:pPr>
            <a:r>
              <a:rPr sz="1500" b="1">
                <a:solidFill>
                  <a:srgbClr val="2D2D44"/>
                </a:solidFill>
                <a:latin typeface="Segoe UI"/>
              </a:rPr>
              <a:t>DINOv2 variants dominate</a:t>
            </a:r>
            <a:r>
              <a:rPr sz="1500" b="0">
                <a:solidFill>
                  <a:srgbClr val="2D2D44"/>
                </a:solidFill>
                <a:latin typeface="Segoe UI"/>
              </a:rPr>
              <a:t> at every shot count on both datasets.</a:t>
            </a:r>
          </a:p>
          <a:p>
            <a:pPr>
              <a:lnSpc>
                <a:spcPct val="120000"/>
              </a:lnSpc>
              <a:spcAft>
                <a:spcPts val="800"/>
              </a:spcAft>
              <a:defRPr sz="1500">
                <a:solidFill>
                  <a:srgbClr val="2D2D44"/>
                </a:solidFill>
                <a:latin typeface="Segoe UI"/>
              </a:defRPr>
            </a:pPr>
            <a:r>
              <a:rPr sz="1500" b="1">
                <a:solidFill>
                  <a:srgbClr val="2D2D44"/>
                </a:solidFill>
                <a:latin typeface="Segoe UI"/>
              </a:rPr>
              <a:t>MoCo v3 lags</a:t>
            </a:r>
            <a:r>
              <a:rPr sz="1500" b="0">
                <a:solidFill>
                  <a:srgbClr val="2D2D44"/>
                </a:solidFill>
                <a:latin typeface="Segoe UI"/>
              </a:rPr>
              <a:t> by 50+ percentage points — contrastive pretraining doesn't form semantic clusters suitable for kNN classification.</a:t>
            </a:r>
          </a:p>
          <a:p>
            <a:pPr>
              <a:lnSpc>
                <a:spcPct val="120000"/>
              </a:lnSpc>
              <a:spcAft>
                <a:spcPts val="800"/>
              </a:spcAft>
              <a:defRPr sz="1500">
                <a:solidFill>
                  <a:srgbClr val="2D2D44"/>
                </a:solidFill>
                <a:latin typeface="Segoe UI"/>
              </a:defRPr>
            </a:pPr>
            <a:r>
              <a:rPr sz="1500" b="1">
                <a:solidFill>
                  <a:srgbClr val="2D2D44"/>
                </a:solidFill>
                <a:latin typeface="Segoe UI"/>
              </a:rPr>
              <a:t>Log-linear scaling</a:t>
            </a:r>
            <a:r>
              <a:rPr sz="1500" b="0">
                <a:solidFill>
                  <a:srgbClr val="2D2D44"/>
                </a:solidFill>
                <a:latin typeface="Segoe UI"/>
              </a:rPr>
              <a:t>: steepest gains are between 1→10 shots, with diminishing returns after.</a:t>
            </a:r>
          </a:p>
          <a:p>
            <a:pPr>
              <a:lnSpc>
                <a:spcPct val="120000"/>
              </a:lnSpc>
              <a:spcAft>
                <a:spcPts val="800"/>
              </a:spcAft>
              <a:defRPr sz="1500">
                <a:solidFill>
                  <a:srgbClr val="2D2D44"/>
                </a:solidFill>
                <a:latin typeface="Segoe UI"/>
              </a:defRPr>
            </a:pPr>
            <a:r>
              <a:rPr sz="1500" b="1">
                <a:solidFill>
                  <a:srgbClr val="2D2D44"/>
                </a:solidFill>
                <a:latin typeface="Segoe UI"/>
              </a:rPr>
              <a:t>Variance collapses</a:t>
            </a:r>
            <a:r>
              <a:rPr sz="1500" b="0">
                <a:solidFill>
                  <a:srgbClr val="2D2D44"/>
                </a:solidFill>
                <a:latin typeface="Segoe UI"/>
              </a:rPr>
              <a:t>: standard deviation shaded bands become extremely narrow beyond 20 shots.</a:t>
            </a:r>
          </a:p>
        </p:txBody>
      </p:sp>
      <p:pic>
        <p:nvPicPr>
          <p:cNvPr id="6" name="Picture 5" descr="all_models_cls_comparison.png"/>
          <p:cNvPicPr>
            <a:picLocks noChangeAspect="1"/>
          </p:cNvPicPr>
          <p:nvPr/>
        </p:nvPicPr>
        <p:blipFill>
          <a:blip r:embed="rId3"/>
          <a:stretch>
            <a:fillRect/>
          </a:stretch>
        </p:blipFill>
        <p:spPr>
          <a:xfrm>
            <a:off x="731519" y="1645920"/>
            <a:ext cx="5812155" cy="41148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9144000" cy="1005840"/>
          </a:xfrm>
          <a:prstGeom prst="rect">
            <a:avLst/>
          </a:prstGeom>
          <a:noFill/>
        </p:spPr>
        <p:txBody>
          <a:bodyPr wrap="square" lIns="0" tIns="0" rIns="0" bIns="0">
            <a:spAutoFit/>
          </a:bodyPr>
          <a:lstStyle/>
          <a:p>
            <a:pPr>
              <a:defRPr sz="2800" b="1">
                <a:solidFill>
                  <a:srgbClr val="4361EE"/>
                </a:solidFill>
                <a:latin typeface="Segoe UI"/>
              </a:defRPr>
            </a:pPr>
            <a:r>
              <a:t>CIFAR-10 Results — CLS Token (k=5)</a:t>
            </a:r>
          </a:p>
        </p:txBody>
      </p:sp>
      <p:graphicFrame>
        <p:nvGraphicFramePr>
          <p:cNvPr id="4" name="Table 3"/>
          <p:cNvGraphicFramePr>
            <a:graphicFrameLocks noGrp="1"/>
          </p:cNvGraphicFramePr>
          <p:nvPr/>
        </p:nvGraphicFramePr>
        <p:xfrm>
          <a:off x="731520" y="1645920"/>
          <a:ext cx="6583680" cy="292608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365760">
                <a:tc>
                  <a:txBody>
                    <a:bodyPr/>
                    <a:lstStyle/>
                    <a:p>
                      <a:pPr algn="ctr">
                        <a:defRPr sz="1200" b="1">
                          <a:solidFill>
                            <a:srgbClr val="FFFFFF"/>
                          </a:solidFill>
                          <a:latin typeface="Segoe UI"/>
                        </a:defRPr>
                      </a:pPr>
                      <a:r>
                        <a:t>Model</a:t>
                      </a:r>
                    </a:p>
                  </a:txBody>
                  <a:tcPr>
                    <a:solidFill>
                      <a:srgbClr val="4361EE"/>
                    </a:solidFill>
                  </a:tcPr>
                </a:tc>
                <a:tc>
                  <a:txBody>
                    <a:bodyPr/>
                    <a:lstStyle/>
                    <a:p>
                      <a:pPr algn="ctr">
                        <a:defRPr sz="1200" b="1">
                          <a:solidFill>
                            <a:srgbClr val="FFFFFF"/>
                          </a:solidFill>
                          <a:latin typeface="Segoe UI"/>
                        </a:defRPr>
                      </a:pPr>
                      <a:r>
                        <a:t>1-shot</a:t>
                      </a:r>
                    </a:p>
                  </a:txBody>
                  <a:tcPr>
                    <a:solidFill>
                      <a:srgbClr val="4361EE"/>
                    </a:solidFill>
                  </a:tcPr>
                </a:tc>
                <a:tc>
                  <a:txBody>
                    <a:bodyPr/>
                    <a:lstStyle/>
                    <a:p>
                      <a:pPr algn="ctr">
                        <a:defRPr sz="1200" b="1">
                          <a:solidFill>
                            <a:srgbClr val="FFFFFF"/>
                          </a:solidFill>
                          <a:latin typeface="Segoe UI"/>
                        </a:defRPr>
                      </a:pPr>
                      <a:r>
                        <a:t>5-shot</a:t>
                      </a:r>
                    </a:p>
                  </a:txBody>
                  <a:tcPr>
                    <a:solidFill>
                      <a:srgbClr val="4361EE"/>
                    </a:solidFill>
                  </a:tcPr>
                </a:tc>
                <a:tc>
                  <a:txBody>
                    <a:bodyPr/>
                    <a:lstStyle/>
                    <a:p>
                      <a:pPr algn="ctr">
                        <a:defRPr sz="1200" b="1">
                          <a:solidFill>
                            <a:srgbClr val="FFFFFF"/>
                          </a:solidFill>
                          <a:latin typeface="Segoe UI"/>
                        </a:defRPr>
                      </a:pPr>
                      <a:r>
                        <a:t>10-shot</a:t>
                      </a:r>
                    </a:p>
                  </a:txBody>
                  <a:tcPr>
                    <a:solidFill>
                      <a:srgbClr val="4361EE"/>
                    </a:solidFill>
                  </a:tcPr>
                </a:tc>
                <a:tc>
                  <a:txBody>
                    <a:bodyPr/>
                    <a:lstStyle/>
                    <a:p>
                      <a:pPr algn="ctr">
                        <a:defRPr sz="1200" b="1">
                          <a:solidFill>
                            <a:srgbClr val="FFFFFF"/>
                          </a:solidFill>
                          <a:latin typeface="Segoe UI"/>
                        </a:defRPr>
                      </a:pPr>
                      <a:r>
                        <a:t>100-shot</a:t>
                      </a:r>
                    </a:p>
                  </a:txBody>
                  <a:tcPr>
                    <a:solidFill>
                      <a:srgbClr val="4361EE"/>
                    </a:solidFill>
                  </a:tcPr>
                </a:tc>
                <a:extLst>
                  <a:ext uri="{0D108BD9-81ED-4DB2-BD59-A6C34878D82A}">
                    <a16:rowId xmlns:a16="http://schemas.microsoft.com/office/drawing/2014/main" val="10000"/>
                  </a:ext>
                </a:extLst>
              </a:tr>
              <a:tr h="365760">
                <a:tc>
                  <a:txBody>
                    <a:bodyPr/>
                    <a:lstStyle/>
                    <a:p>
                      <a:pPr algn="l">
                        <a:defRPr sz="1100">
                          <a:solidFill>
                            <a:srgbClr val="2D2D44"/>
                          </a:solidFill>
                          <a:latin typeface="Segoe UI"/>
                        </a:defRPr>
                      </a:pPr>
                      <a:r>
                        <a:t>DINO ViT-S/16</a:t>
                      </a:r>
                    </a:p>
                  </a:txBody>
                  <a:tcPr>
                    <a:solidFill>
                      <a:srgbClr val="F8F9FF"/>
                    </a:solidFill>
                  </a:tcPr>
                </a:tc>
                <a:tc>
                  <a:txBody>
                    <a:bodyPr/>
                    <a:lstStyle/>
                    <a:p>
                      <a:pPr algn="ctr">
                        <a:defRPr sz="1100">
                          <a:solidFill>
                            <a:srgbClr val="2D2D44"/>
                          </a:solidFill>
                          <a:latin typeface="Segoe UI"/>
                        </a:defRPr>
                      </a:pPr>
                      <a:r>
                        <a:t>53.2 ± 5.7</a:t>
                      </a:r>
                    </a:p>
                  </a:txBody>
                  <a:tcPr>
                    <a:solidFill>
                      <a:srgbClr val="F8F9FF"/>
                    </a:solidFill>
                  </a:tcPr>
                </a:tc>
                <a:tc>
                  <a:txBody>
                    <a:bodyPr/>
                    <a:lstStyle/>
                    <a:p>
                      <a:pPr algn="ctr">
                        <a:defRPr sz="1100">
                          <a:solidFill>
                            <a:srgbClr val="2D2D44"/>
                          </a:solidFill>
                          <a:latin typeface="Segoe UI"/>
                        </a:defRPr>
                      </a:pPr>
                      <a:r>
                        <a:t>76.2 ± 2.0</a:t>
                      </a:r>
                    </a:p>
                  </a:txBody>
                  <a:tcPr>
                    <a:solidFill>
                      <a:srgbClr val="F8F9FF"/>
                    </a:solidFill>
                  </a:tcPr>
                </a:tc>
                <a:tc>
                  <a:txBody>
                    <a:bodyPr/>
                    <a:lstStyle/>
                    <a:p>
                      <a:pPr algn="ctr">
                        <a:defRPr sz="1100">
                          <a:solidFill>
                            <a:srgbClr val="2D2D44"/>
                          </a:solidFill>
                          <a:latin typeface="Segoe UI"/>
                        </a:defRPr>
                      </a:pPr>
                      <a:r>
                        <a:t>80.1 ± 1.3</a:t>
                      </a:r>
                    </a:p>
                  </a:txBody>
                  <a:tcPr>
                    <a:solidFill>
                      <a:srgbClr val="F8F9FF"/>
                    </a:solidFill>
                  </a:tcPr>
                </a:tc>
                <a:tc>
                  <a:txBody>
                    <a:bodyPr/>
                    <a:lstStyle/>
                    <a:p>
                      <a:pPr algn="ctr">
                        <a:defRPr sz="1100">
                          <a:solidFill>
                            <a:srgbClr val="2D2D44"/>
                          </a:solidFill>
                          <a:latin typeface="Segoe UI"/>
                        </a:defRPr>
                      </a:pPr>
                      <a:r>
                        <a:t>88.4 ± 0.5</a:t>
                      </a:r>
                    </a:p>
                  </a:txBody>
                  <a:tcPr>
                    <a:solidFill>
                      <a:srgbClr val="F8F9FF"/>
                    </a:solidFill>
                  </a:tcPr>
                </a:tc>
                <a:extLst>
                  <a:ext uri="{0D108BD9-81ED-4DB2-BD59-A6C34878D82A}">
                    <a16:rowId xmlns:a16="http://schemas.microsoft.com/office/drawing/2014/main" val="10001"/>
                  </a:ext>
                </a:extLst>
              </a:tr>
              <a:tr h="365760">
                <a:tc>
                  <a:txBody>
                    <a:bodyPr/>
                    <a:lstStyle/>
                    <a:p>
                      <a:pPr algn="l">
                        <a:defRPr sz="1100">
                          <a:solidFill>
                            <a:srgbClr val="2D2D44"/>
                          </a:solidFill>
                          <a:latin typeface="Segoe UI"/>
                        </a:defRPr>
                      </a:pPr>
                      <a:r>
                        <a:t>DINOv2 ViT-S/14</a:t>
                      </a:r>
                    </a:p>
                  </a:txBody>
                  <a:tcPr>
                    <a:solidFill>
                      <a:srgbClr val="FFFFFF"/>
                    </a:solidFill>
                  </a:tcPr>
                </a:tc>
                <a:tc>
                  <a:txBody>
                    <a:bodyPr/>
                    <a:lstStyle/>
                    <a:p>
                      <a:pPr algn="ctr">
                        <a:defRPr sz="1100">
                          <a:solidFill>
                            <a:srgbClr val="2D2D44"/>
                          </a:solidFill>
                          <a:latin typeface="Segoe UI"/>
                        </a:defRPr>
                      </a:pPr>
                      <a:r>
                        <a:t>66.0 ± 8.0</a:t>
                      </a:r>
                    </a:p>
                  </a:txBody>
                  <a:tcPr>
                    <a:solidFill>
                      <a:srgbClr val="FFFFFF"/>
                    </a:solidFill>
                  </a:tcPr>
                </a:tc>
                <a:tc>
                  <a:txBody>
                    <a:bodyPr/>
                    <a:lstStyle/>
                    <a:p>
                      <a:pPr algn="ctr">
                        <a:defRPr sz="1100">
                          <a:solidFill>
                            <a:srgbClr val="2D2D44"/>
                          </a:solidFill>
                          <a:latin typeface="Segoe UI"/>
                        </a:defRPr>
                      </a:pPr>
                      <a:r>
                        <a:t>87.0 ± 1.1</a:t>
                      </a:r>
                    </a:p>
                  </a:txBody>
                  <a:tcPr>
                    <a:solidFill>
                      <a:srgbClr val="FFFFFF"/>
                    </a:solidFill>
                  </a:tcPr>
                </a:tc>
                <a:tc>
                  <a:txBody>
                    <a:bodyPr/>
                    <a:lstStyle/>
                    <a:p>
                      <a:pPr algn="ctr">
                        <a:defRPr sz="1100">
                          <a:solidFill>
                            <a:srgbClr val="2D2D44"/>
                          </a:solidFill>
                          <a:latin typeface="Segoe UI"/>
                        </a:defRPr>
                      </a:pPr>
                      <a:r>
                        <a:t>89.6 ± 0.4</a:t>
                      </a:r>
                    </a:p>
                  </a:txBody>
                  <a:tcPr>
                    <a:solidFill>
                      <a:srgbClr val="FFFFFF"/>
                    </a:solidFill>
                  </a:tcPr>
                </a:tc>
                <a:tc>
                  <a:txBody>
                    <a:bodyPr/>
                    <a:lstStyle/>
                    <a:p>
                      <a:pPr algn="ctr">
                        <a:defRPr sz="1100" b="1">
                          <a:solidFill>
                            <a:srgbClr val="F5576C"/>
                          </a:solidFill>
                          <a:latin typeface="Segoe UI"/>
                        </a:defRPr>
                      </a:pPr>
                      <a:r>
                        <a:t>94.7 ± 0.2</a:t>
                      </a:r>
                    </a:p>
                  </a:txBody>
                  <a:tcPr>
                    <a:solidFill>
                      <a:srgbClr val="FFFFFF"/>
                    </a:solidFill>
                  </a:tcPr>
                </a:tc>
                <a:extLst>
                  <a:ext uri="{0D108BD9-81ED-4DB2-BD59-A6C34878D82A}">
                    <a16:rowId xmlns:a16="http://schemas.microsoft.com/office/drawing/2014/main" val="10002"/>
                  </a:ext>
                </a:extLst>
              </a:tr>
              <a:tr h="365760">
                <a:tc>
                  <a:txBody>
                    <a:bodyPr/>
                    <a:lstStyle/>
                    <a:p>
                      <a:pPr algn="l">
                        <a:defRPr sz="1100">
                          <a:solidFill>
                            <a:srgbClr val="2D2D44"/>
                          </a:solidFill>
                          <a:latin typeface="Segoe UI"/>
                        </a:defRPr>
                      </a:pPr>
                      <a:r>
                        <a:t>DINOv2 (reg)</a:t>
                      </a:r>
                    </a:p>
                  </a:txBody>
                  <a:tcPr>
                    <a:solidFill>
                      <a:srgbClr val="F8F9FF"/>
                    </a:solidFill>
                  </a:tcPr>
                </a:tc>
                <a:tc>
                  <a:txBody>
                    <a:bodyPr/>
                    <a:lstStyle/>
                    <a:p>
                      <a:pPr algn="ctr">
                        <a:defRPr sz="1100" b="1">
                          <a:solidFill>
                            <a:srgbClr val="F5576C"/>
                          </a:solidFill>
                          <a:latin typeface="Segoe UI"/>
                        </a:defRPr>
                      </a:pPr>
                      <a:r>
                        <a:t>68.2 ± 5.8</a:t>
                      </a:r>
                    </a:p>
                  </a:txBody>
                  <a:tcPr>
                    <a:solidFill>
                      <a:srgbClr val="F8F9FF"/>
                    </a:solidFill>
                  </a:tcPr>
                </a:tc>
                <a:tc>
                  <a:txBody>
                    <a:bodyPr/>
                    <a:lstStyle/>
                    <a:p>
                      <a:pPr algn="ctr">
                        <a:defRPr sz="1100" b="1">
                          <a:solidFill>
                            <a:srgbClr val="F5576C"/>
                          </a:solidFill>
                          <a:latin typeface="Segoe UI"/>
                        </a:defRPr>
                      </a:pPr>
                      <a:r>
                        <a:t>87.8 ± 2.0</a:t>
                      </a:r>
                    </a:p>
                  </a:txBody>
                  <a:tcPr>
                    <a:solidFill>
                      <a:srgbClr val="F8F9FF"/>
                    </a:solidFill>
                  </a:tcPr>
                </a:tc>
                <a:tc>
                  <a:txBody>
                    <a:bodyPr/>
                    <a:lstStyle/>
                    <a:p>
                      <a:pPr algn="ctr">
                        <a:defRPr sz="1100" b="1">
                          <a:solidFill>
                            <a:srgbClr val="F5576C"/>
                          </a:solidFill>
                          <a:latin typeface="Segoe UI"/>
                        </a:defRPr>
                      </a:pPr>
                      <a:r>
                        <a:t>90.7 ± 0.8</a:t>
                      </a:r>
                    </a:p>
                  </a:txBody>
                  <a:tcPr>
                    <a:solidFill>
                      <a:srgbClr val="F8F9FF"/>
                    </a:solidFill>
                  </a:tcPr>
                </a:tc>
                <a:tc>
                  <a:txBody>
                    <a:bodyPr/>
                    <a:lstStyle/>
                    <a:p>
                      <a:pPr algn="ctr">
                        <a:defRPr sz="1100">
                          <a:solidFill>
                            <a:srgbClr val="2D2D44"/>
                          </a:solidFill>
                          <a:latin typeface="Segoe UI"/>
                        </a:defRPr>
                      </a:pPr>
                      <a:r>
                        <a:t>94.6 ± 0.0</a:t>
                      </a:r>
                    </a:p>
                  </a:txBody>
                  <a:tcPr>
                    <a:solidFill>
                      <a:srgbClr val="F8F9FF"/>
                    </a:solidFill>
                  </a:tcPr>
                </a:tc>
                <a:extLst>
                  <a:ext uri="{0D108BD9-81ED-4DB2-BD59-A6C34878D82A}">
                    <a16:rowId xmlns:a16="http://schemas.microsoft.com/office/drawing/2014/main" val="10003"/>
                  </a:ext>
                </a:extLst>
              </a:tr>
              <a:tr h="365760">
                <a:tc>
                  <a:txBody>
                    <a:bodyPr/>
                    <a:lstStyle/>
                    <a:p>
                      <a:pPr algn="l">
                        <a:defRPr sz="1100">
                          <a:solidFill>
                            <a:srgbClr val="2D2D44"/>
                          </a:solidFill>
                          <a:latin typeface="Segoe UI"/>
                        </a:defRPr>
                      </a:pPr>
                      <a:r>
                        <a:t>DINOv3 ViT-S/16</a:t>
                      </a:r>
                    </a:p>
                  </a:txBody>
                  <a:tcPr>
                    <a:solidFill>
                      <a:srgbClr val="FFFFFF"/>
                    </a:solidFill>
                  </a:tcPr>
                </a:tc>
                <a:tc>
                  <a:txBody>
                    <a:bodyPr/>
                    <a:lstStyle/>
                    <a:p>
                      <a:pPr algn="ctr">
                        <a:defRPr sz="1100">
                          <a:solidFill>
                            <a:srgbClr val="2D2D44"/>
                          </a:solidFill>
                          <a:latin typeface="Segoe UI"/>
                        </a:defRPr>
                      </a:pPr>
                      <a:r>
                        <a:t>56.5 ± 4.4</a:t>
                      </a:r>
                    </a:p>
                  </a:txBody>
                  <a:tcPr>
                    <a:solidFill>
                      <a:srgbClr val="FFFFFF"/>
                    </a:solidFill>
                  </a:tcPr>
                </a:tc>
                <a:tc>
                  <a:txBody>
                    <a:bodyPr/>
                    <a:lstStyle/>
                    <a:p>
                      <a:pPr algn="ctr">
                        <a:defRPr sz="1100">
                          <a:solidFill>
                            <a:srgbClr val="2D2D44"/>
                          </a:solidFill>
                          <a:latin typeface="Segoe UI"/>
                        </a:defRPr>
                      </a:pPr>
                      <a:r>
                        <a:t>83.5 ± 1.1</a:t>
                      </a:r>
                    </a:p>
                  </a:txBody>
                  <a:tcPr>
                    <a:solidFill>
                      <a:srgbClr val="FFFFFF"/>
                    </a:solidFill>
                  </a:tcPr>
                </a:tc>
                <a:tc>
                  <a:txBody>
                    <a:bodyPr/>
                    <a:lstStyle/>
                    <a:p>
                      <a:pPr algn="ctr">
                        <a:defRPr sz="1100">
                          <a:solidFill>
                            <a:srgbClr val="2D2D44"/>
                          </a:solidFill>
                          <a:latin typeface="Segoe UI"/>
                        </a:defRPr>
                      </a:pPr>
                      <a:r>
                        <a:t>86.8 ± 0.7</a:t>
                      </a:r>
                    </a:p>
                  </a:txBody>
                  <a:tcPr>
                    <a:solidFill>
                      <a:srgbClr val="FFFFFF"/>
                    </a:solidFill>
                  </a:tcPr>
                </a:tc>
                <a:tc>
                  <a:txBody>
                    <a:bodyPr/>
                    <a:lstStyle/>
                    <a:p>
                      <a:pPr algn="ctr">
                        <a:defRPr sz="1100">
                          <a:solidFill>
                            <a:srgbClr val="2D2D44"/>
                          </a:solidFill>
                          <a:latin typeface="Segoe UI"/>
                        </a:defRPr>
                      </a:pPr>
                      <a:r>
                        <a:t>93.3 ± 0.3</a:t>
                      </a:r>
                    </a:p>
                  </a:txBody>
                  <a:tcPr>
                    <a:solidFill>
                      <a:srgbClr val="FFFFFF"/>
                    </a:solidFill>
                  </a:tcPr>
                </a:tc>
                <a:extLst>
                  <a:ext uri="{0D108BD9-81ED-4DB2-BD59-A6C34878D82A}">
                    <a16:rowId xmlns:a16="http://schemas.microsoft.com/office/drawing/2014/main" val="10004"/>
                  </a:ext>
                </a:extLst>
              </a:tr>
              <a:tr h="365760">
                <a:tc>
                  <a:txBody>
                    <a:bodyPr/>
                    <a:lstStyle/>
                    <a:p>
                      <a:pPr algn="l">
                        <a:defRPr sz="1100">
                          <a:solidFill>
                            <a:srgbClr val="2D2D44"/>
                          </a:solidFill>
                          <a:latin typeface="Segoe UI"/>
                        </a:defRPr>
                      </a:pPr>
                      <a:r>
                        <a:t>MoCo v3 ViT-S/16</a:t>
                      </a:r>
                    </a:p>
                  </a:txBody>
                  <a:tcPr>
                    <a:solidFill>
                      <a:srgbClr val="FFFFFF"/>
                    </a:solidFill>
                  </a:tcPr>
                </a:tc>
                <a:tc>
                  <a:txBody>
                    <a:bodyPr/>
                    <a:lstStyle/>
                    <a:p>
                      <a:pPr algn="ctr">
                        <a:defRPr sz="1100">
                          <a:solidFill>
                            <a:srgbClr val="2D2D44"/>
                          </a:solidFill>
                          <a:latin typeface="Segoe UI"/>
                        </a:defRPr>
                      </a:pPr>
                      <a:r>
                        <a:t>21.8 ± 1.3</a:t>
                      </a:r>
                    </a:p>
                  </a:txBody>
                  <a:tcPr>
                    <a:solidFill>
                      <a:srgbClr val="FFFFFF"/>
                    </a:solidFill>
                  </a:tcPr>
                </a:tc>
                <a:tc>
                  <a:txBody>
                    <a:bodyPr/>
                    <a:lstStyle/>
                    <a:p>
                      <a:pPr algn="ctr">
                        <a:defRPr sz="1100">
                          <a:solidFill>
                            <a:srgbClr val="2D2D44"/>
                          </a:solidFill>
                          <a:latin typeface="Segoe UI"/>
                        </a:defRPr>
                      </a:pPr>
                      <a:r>
                        <a:t>30.5 ± 1.5</a:t>
                      </a:r>
                    </a:p>
                  </a:txBody>
                  <a:tcPr>
                    <a:solidFill>
                      <a:srgbClr val="FFFFFF"/>
                    </a:solidFill>
                  </a:tcPr>
                </a:tc>
                <a:tc>
                  <a:txBody>
                    <a:bodyPr/>
                    <a:lstStyle/>
                    <a:p>
                      <a:pPr algn="ctr">
                        <a:defRPr sz="1100">
                          <a:solidFill>
                            <a:srgbClr val="2D2D44"/>
                          </a:solidFill>
                          <a:latin typeface="Segoe UI"/>
                        </a:defRPr>
                      </a:pPr>
                      <a:r>
                        <a:t>33.5 ± 0.7</a:t>
                      </a:r>
                    </a:p>
                  </a:txBody>
                  <a:tcPr>
                    <a:solidFill>
                      <a:srgbClr val="FFFFFF"/>
                    </a:solidFill>
                  </a:tcPr>
                </a:tc>
                <a:tc>
                  <a:txBody>
                    <a:bodyPr/>
                    <a:lstStyle/>
                    <a:p>
                      <a:pPr algn="ctr">
                        <a:defRPr sz="1100">
                          <a:solidFill>
                            <a:srgbClr val="2D2D44"/>
                          </a:solidFill>
                          <a:latin typeface="Segoe UI"/>
                        </a:defRPr>
                      </a:pPr>
                      <a:r>
                        <a:t>43.9 ± 0.5</a:t>
                      </a:r>
                    </a:p>
                  </a:txBody>
                  <a:tcPr>
                    <a:solidFill>
                      <a:srgbClr val="FFFFFF"/>
                    </a:solidFill>
                  </a:tcPr>
                </a:tc>
                <a:extLst>
                  <a:ext uri="{0D108BD9-81ED-4DB2-BD59-A6C34878D82A}">
                    <a16:rowId xmlns:a16="http://schemas.microsoft.com/office/drawing/2014/main" val="763737733"/>
                  </a:ext>
                </a:extLst>
              </a:tr>
              <a:tr h="365760">
                <a:tc>
                  <a:txBody>
                    <a:bodyPr/>
                    <a:lstStyle/>
                    <a:p>
                      <a:pPr algn="l">
                        <a:defRPr sz="1100">
                          <a:solidFill>
                            <a:srgbClr val="2D2D44"/>
                          </a:solidFill>
                          <a:latin typeface="Segoe UI"/>
                        </a:defRPr>
                      </a:pPr>
                      <a:r>
                        <a:t>iBOT ViT-S/16</a:t>
                      </a:r>
                    </a:p>
                  </a:txBody>
                  <a:tcPr>
                    <a:solidFill>
                      <a:srgbClr val="FFFFFF"/>
                    </a:solidFill>
                  </a:tcPr>
                </a:tc>
                <a:tc>
                  <a:txBody>
                    <a:bodyPr/>
                    <a:lstStyle/>
                    <a:p>
                      <a:pPr algn="ctr">
                        <a:defRPr sz="1100">
                          <a:solidFill>
                            <a:srgbClr val="2D2D44"/>
                          </a:solidFill>
                          <a:latin typeface="Segoe UI"/>
                        </a:defRPr>
                      </a:pPr>
                      <a:r>
                        <a:t>57.6 ± 6.0</a:t>
                      </a:r>
                    </a:p>
                  </a:txBody>
                  <a:tcPr>
                    <a:solidFill>
                      <a:srgbClr val="FFFFFF"/>
                    </a:solidFill>
                  </a:tcPr>
                </a:tc>
                <a:tc>
                  <a:txBody>
                    <a:bodyPr/>
                    <a:lstStyle/>
                    <a:p>
                      <a:pPr algn="ctr">
                        <a:defRPr sz="1100">
                          <a:solidFill>
                            <a:srgbClr val="2D2D44"/>
                          </a:solidFill>
                          <a:latin typeface="Segoe UI"/>
                        </a:defRPr>
                      </a:pPr>
                      <a:r>
                        <a:t>79.6 ± 0.8</a:t>
                      </a:r>
                    </a:p>
                  </a:txBody>
                  <a:tcPr>
                    <a:solidFill>
                      <a:srgbClr val="FFFFFF"/>
                    </a:solidFill>
                  </a:tcPr>
                </a:tc>
                <a:tc>
                  <a:txBody>
                    <a:bodyPr/>
                    <a:lstStyle/>
                    <a:p>
                      <a:pPr algn="ctr">
                        <a:defRPr sz="1100">
                          <a:solidFill>
                            <a:srgbClr val="2D2D44"/>
                          </a:solidFill>
                          <a:latin typeface="Segoe UI"/>
                        </a:defRPr>
                      </a:pPr>
                      <a:r>
                        <a:t>83.1 ± 0.2</a:t>
                      </a:r>
                    </a:p>
                  </a:txBody>
                  <a:tcPr>
                    <a:solidFill>
                      <a:srgbClr val="FFFFFF"/>
                    </a:solidFill>
                  </a:tcPr>
                </a:tc>
                <a:tc>
                  <a:txBody>
                    <a:bodyPr/>
                    <a:lstStyle/>
                    <a:p>
                      <a:pPr algn="ctr">
                        <a:defRPr sz="1100">
                          <a:solidFill>
                            <a:srgbClr val="2D2D44"/>
                          </a:solidFill>
                          <a:latin typeface="Segoe UI"/>
                        </a:defRPr>
                      </a:pPr>
                      <a:r>
                        <a:t>90.4 ± 0.4</a:t>
                      </a:r>
                    </a:p>
                  </a:txBody>
                  <a:tcPr>
                    <a:solidFill>
                      <a:srgbClr val="FFFFFF"/>
                    </a:solidFill>
                  </a:tcPr>
                </a:tc>
                <a:extLst>
                  <a:ext uri="{0D108BD9-81ED-4DB2-BD59-A6C34878D82A}">
                    <a16:rowId xmlns:a16="http://schemas.microsoft.com/office/drawing/2014/main" val="3721460337"/>
                  </a:ext>
                </a:extLst>
              </a:tr>
              <a:tr h="365760">
                <a:tc>
                  <a:txBody>
                    <a:bodyPr/>
                    <a:lstStyle/>
                    <a:p>
                      <a:pPr algn="l">
                        <a:defRPr sz="1100">
                          <a:solidFill>
                            <a:srgbClr val="2D2D44"/>
                          </a:solidFill>
                          <a:latin typeface="Segoe UI"/>
                        </a:defRPr>
                      </a:pPr>
                      <a:r>
                        <a:t>AttMask ViT-S/16</a:t>
                      </a:r>
                    </a:p>
                  </a:txBody>
                  <a:tcPr>
                    <a:solidFill>
                      <a:srgbClr val="FFFFFF"/>
                    </a:solidFill>
                  </a:tcPr>
                </a:tc>
                <a:tc>
                  <a:txBody>
                    <a:bodyPr/>
                    <a:lstStyle/>
                    <a:p>
                      <a:pPr algn="ctr">
                        <a:defRPr sz="1100">
                          <a:solidFill>
                            <a:srgbClr val="2D2D44"/>
                          </a:solidFill>
                          <a:latin typeface="Segoe UI"/>
                        </a:defRPr>
                      </a:pPr>
                      <a:r>
                        <a:t>56.7 ± 4.3</a:t>
                      </a:r>
                    </a:p>
                  </a:txBody>
                  <a:tcPr>
                    <a:solidFill>
                      <a:srgbClr val="FFFFFF"/>
                    </a:solidFill>
                  </a:tcPr>
                </a:tc>
                <a:tc>
                  <a:txBody>
                    <a:bodyPr/>
                    <a:lstStyle/>
                    <a:p>
                      <a:pPr algn="ctr">
                        <a:defRPr sz="1100">
                          <a:solidFill>
                            <a:srgbClr val="2D2D44"/>
                          </a:solidFill>
                          <a:latin typeface="Segoe UI"/>
                        </a:defRPr>
                      </a:pPr>
                      <a:r>
                        <a:t>78.3 ± 1.6</a:t>
                      </a:r>
                    </a:p>
                  </a:txBody>
                  <a:tcPr>
                    <a:solidFill>
                      <a:srgbClr val="FFFFFF"/>
                    </a:solidFill>
                  </a:tcPr>
                </a:tc>
                <a:tc>
                  <a:txBody>
                    <a:bodyPr/>
                    <a:lstStyle/>
                    <a:p>
                      <a:pPr algn="ctr">
                        <a:defRPr sz="1100">
                          <a:solidFill>
                            <a:srgbClr val="2D2D44"/>
                          </a:solidFill>
                          <a:latin typeface="Segoe UI"/>
                        </a:defRPr>
                      </a:pPr>
                      <a:r>
                        <a:t>82.0 ± 1.0</a:t>
                      </a:r>
                    </a:p>
                  </a:txBody>
                  <a:tcPr>
                    <a:solidFill>
                      <a:srgbClr val="FFFFFF"/>
                    </a:solidFill>
                  </a:tcPr>
                </a:tc>
                <a:tc>
                  <a:txBody>
                    <a:bodyPr/>
                    <a:lstStyle/>
                    <a:p>
                      <a:pPr algn="ctr">
                        <a:defRPr sz="1100">
                          <a:solidFill>
                            <a:srgbClr val="2D2D44"/>
                          </a:solidFill>
                          <a:latin typeface="Segoe UI"/>
                        </a:defRPr>
                      </a:pPr>
                      <a:r>
                        <a:t>90.4 ± 0.4</a:t>
                      </a:r>
                    </a:p>
                  </a:txBody>
                  <a:tcPr>
                    <a:solidFill>
                      <a:srgbClr val="FFFFFF"/>
                    </a:solidFill>
                  </a:tcPr>
                </a:tc>
                <a:extLst>
                  <a:ext uri="{0D108BD9-81ED-4DB2-BD59-A6C34878D82A}">
                    <a16:rowId xmlns:a16="http://schemas.microsoft.com/office/drawing/2014/main" val="1629830738"/>
                  </a:ext>
                </a:extLst>
              </a:tr>
            </a:tbl>
          </a:graphicData>
        </a:graphic>
      </p:graphicFrame>
      <p:sp>
        <p:nvSpPr>
          <p:cNvPr id="5" name="TextBox 4"/>
          <p:cNvSpPr txBox="1"/>
          <p:nvPr/>
        </p:nvSpPr>
        <p:spPr>
          <a:xfrm>
            <a:off x="7589520" y="1645920"/>
            <a:ext cx="3840480" cy="2926080"/>
          </a:xfrm>
          <a:prstGeom prst="rect">
            <a:avLst/>
          </a:prstGeom>
          <a:noFill/>
        </p:spPr>
        <p:txBody>
          <a:bodyPr wrap="square" lIns="0" tIns="0" rIns="0" bIns="0">
            <a:spAutoFit/>
          </a:bodyPr>
          <a:lstStyle/>
          <a:p>
            <a:pPr>
              <a:lnSpc>
                <a:spcPct val="120000"/>
              </a:lnSpc>
              <a:spcAft>
                <a:spcPts val="800"/>
              </a:spcAft>
              <a:defRPr sz="1500">
                <a:solidFill>
                  <a:srgbClr val="2D2D44"/>
                </a:solidFill>
                <a:latin typeface="Segoe UI"/>
              </a:defRPr>
            </a:pPr>
            <a:r>
              <a:rPr sz="1500" b="1">
                <a:solidFill>
                  <a:srgbClr val="2D2D44"/>
                </a:solidFill>
                <a:latin typeface="Segoe UI"/>
              </a:rPr>
              <a:t>DINOv2-reg</a:t>
            </a:r>
            <a:r>
              <a:rPr sz="1500" b="0">
                <a:solidFill>
                  <a:srgbClr val="2D2D44"/>
                </a:solidFill>
                <a:latin typeface="Segoe UI"/>
              </a:rPr>
              <a:t> is superior at low shot counts (1, 5, 10 shots).</a:t>
            </a:r>
          </a:p>
          <a:p>
            <a:pPr>
              <a:lnSpc>
                <a:spcPct val="120000"/>
              </a:lnSpc>
              <a:spcAft>
                <a:spcPts val="800"/>
              </a:spcAft>
              <a:defRPr sz="1500">
                <a:solidFill>
                  <a:srgbClr val="2D2D44"/>
                </a:solidFill>
                <a:latin typeface="Segoe UI"/>
              </a:defRPr>
            </a:pPr>
            <a:r>
              <a:rPr sz="1500" b="1">
                <a:solidFill>
                  <a:srgbClr val="2D2D44"/>
                </a:solidFill>
                <a:latin typeface="Segoe UI"/>
              </a:rPr>
              <a:t>94.7% accuracy</a:t>
            </a:r>
            <a:r>
              <a:rPr sz="1500" b="0">
                <a:solidFill>
                  <a:srgbClr val="2D2D44"/>
                </a:solidFill>
                <a:latin typeface="Segoe UI"/>
              </a:rPr>
              <a:t> is achieved with only 100 shots per class.</a:t>
            </a:r>
          </a:p>
          <a:p>
            <a:pPr>
              <a:lnSpc>
                <a:spcPct val="120000"/>
              </a:lnSpc>
              <a:spcAft>
                <a:spcPts val="800"/>
              </a:spcAft>
              <a:defRPr sz="1500">
                <a:solidFill>
                  <a:srgbClr val="2D2D44"/>
                </a:solidFill>
                <a:latin typeface="Segoe UI"/>
              </a:defRPr>
            </a:pPr>
            <a:r>
              <a:rPr sz="1500" b="1">
                <a:solidFill>
                  <a:srgbClr val="2D2D44"/>
                </a:solidFill>
                <a:latin typeface="Segoe UI"/>
              </a:rPr>
              <a:t>MoCo v3</a:t>
            </a:r>
            <a:r>
              <a:rPr sz="1500" b="0">
                <a:solidFill>
                  <a:srgbClr val="2D2D44"/>
                </a:solidFill>
                <a:latin typeface="Segoe UI"/>
              </a:rPr>
              <a:t> performance is extremely poor, failing to represent CIFAR-10 classes cleanly.</a:t>
            </a:r>
          </a:p>
        </p:txBody>
      </p:sp>
      <p:sp>
        <p:nvSpPr>
          <p:cNvPr id="6" name="Rounded Rectangle 5"/>
          <p:cNvSpPr/>
          <p:nvPr/>
        </p:nvSpPr>
        <p:spPr>
          <a:xfrm>
            <a:off x="731520" y="4754880"/>
            <a:ext cx="10725912" cy="1280160"/>
          </a:xfrm>
          <a:prstGeom prst="roundRect">
            <a:avLst/>
          </a:prstGeom>
          <a:solidFill>
            <a:srgbClr val="F0FDFA"/>
          </a:solidFill>
          <a:ln w="19050">
            <a:solidFill>
              <a:srgbClr val="11998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5074920"/>
            <a:ext cx="10360152" cy="338554"/>
          </a:xfrm>
          <a:prstGeom prst="rect">
            <a:avLst/>
          </a:prstGeom>
          <a:noFill/>
        </p:spPr>
        <p:txBody>
          <a:bodyPr wrap="square">
            <a:spAutoFit/>
          </a:bodyPr>
          <a:lstStyle/>
          <a:p>
            <a:pPr algn="ctr">
              <a:defRPr sz="1600">
                <a:solidFill>
                  <a:srgbClr val="2D2D44"/>
                </a:solidFill>
                <a:latin typeface="Segoe UI"/>
              </a:defRPr>
            </a:pPr>
            <a:r>
              <a:rPr sz="1600" b="0" dirty="0">
                <a:solidFill>
                  <a:srgbClr val="2D2D44"/>
                </a:solidFill>
                <a:latin typeface="Segoe UI"/>
              </a:rPr>
              <a:t> </a:t>
            </a:r>
            <a:r>
              <a:rPr sz="1600" b="1" dirty="0">
                <a:solidFill>
                  <a:srgbClr val="2D2D44"/>
                </a:solidFill>
                <a:latin typeface="Segoe UI"/>
              </a:rPr>
              <a:t>DINOv2 achieves 95.1% at 100-shot (k=20)</a:t>
            </a:r>
            <a:r>
              <a:rPr sz="1600" b="0" dirty="0">
                <a:solidFill>
                  <a:srgbClr val="2D2D44"/>
                </a:solidFill>
                <a:latin typeface="Segoe UI"/>
              </a:rPr>
              <a:t> — matching a supervised ResNet-50 trained on </a:t>
            </a:r>
            <a:r>
              <a:rPr sz="1600" b="1" dirty="0">
                <a:solidFill>
                  <a:srgbClr val="2D2D44"/>
                </a:solidFill>
                <a:latin typeface="Segoe UI"/>
              </a:rPr>
              <a:t>50× more labels</a:t>
            </a:r>
            <a:r>
              <a:rPr sz="1600" b="0" dirty="0">
                <a:solidFill>
                  <a:srgbClr val="2D2D44"/>
                </a:solidFill>
                <a:latin typeface="Segoe UI"/>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9144000" cy="1005840"/>
          </a:xfrm>
          <a:prstGeom prst="rect">
            <a:avLst/>
          </a:prstGeom>
          <a:noFill/>
        </p:spPr>
        <p:txBody>
          <a:bodyPr wrap="square" lIns="0" tIns="0" rIns="0" bIns="0">
            <a:spAutoFit/>
          </a:bodyPr>
          <a:lstStyle/>
          <a:p>
            <a:pPr>
              <a:defRPr sz="2800" b="1">
                <a:solidFill>
                  <a:srgbClr val="4361EE"/>
                </a:solidFill>
                <a:latin typeface="Segoe UI"/>
              </a:defRPr>
            </a:pPr>
            <a:r>
              <a:t>CIFAR-100 Results — CLS Token (k=5)</a:t>
            </a:r>
          </a:p>
        </p:txBody>
      </p:sp>
      <p:graphicFrame>
        <p:nvGraphicFramePr>
          <p:cNvPr id="4" name="Table 3"/>
          <p:cNvGraphicFramePr>
            <a:graphicFrameLocks noGrp="1"/>
          </p:cNvGraphicFramePr>
          <p:nvPr/>
        </p:nvGraphicFramePr>
        <p:xfrm>
          <a:off x="731520" y="1645920"/>
          <a:ext cx="6583680" cy="292608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365760">
                <a:tc>
                  <a:txBody>
                    <a:bodyPr/>
                    <a:lstStyle/>
                    <a:p>
                      <a:pPr algn="ctr">
                        <a:defRPr sz="1200" b="1">
                          <a:solidFill>
                            <a:srgbClr val="FFFFFF"/>
                          </a:solidFill>
                          <a:latin typeface="Segoe UI"/>
                        </a:defRPr>
                      </a:pPr>
                      <a:r>
                        <a:t>Model</a:t>
                      </a:r>
                    </a:p>
                  </a:txBody>
                  <a:tcPr>
                    <a:solidFill>
                      <a:srgbClr val="4361EE"/>
                    </a:solidFill>
                  </a:tcPr>
                </a:tc>
                <a:tc>
                  <a:txBody>
                    <a:bodyPr/>
                    <a:lstStyle/>
                    <a:p>
                      <a:pPr algn="ctr">
                        <a:defRPr sz="1200" b="1">
                          <a:solidFill>
                            <a:srgbClr val="FFFFFF"/>
                          </a:solidFill>
                          <a:latin typeface="Segoe UI"/>
                        </a:defRPr>
                      </a:pPr>
                      <a:r>
                        <a:t>1-shot</a:t>
                      </a:r>
                    </a:p>
                  </a:txBody>
                  <a:tcPr>
                    <a:solidFill>
                      <a:srgbClr val="4361EE"/>
                    </a:solidFill>
                  </a:tcPr>
                </a:tc>
                <a:tc>
                  <a:txBody>
                    <a:bodyPr/>
                    <a:lstStyle/>
                    <a:p>
                      <a:pPr algn="ctr">
                        <a:defRPr sz="1200" b="1">
                          <a:solidFill>
                            <a:srgbClr val="FFFFFF"/>
                          </a:solidFill>
                          <a:latin typeface="Segoe UI"/>
                        </a:defRPr>
                      </a:pPr>
                      <a:r>
                        <a:t>5-shot</a:t>
                      </a:r>
                    </a:p>
                  </a:txBody>
                  <a:tcPr>
                    <a:solidFill>
                      <a:srgbClr val="4361EE"/>
                    </a:solidFill>
                  </a:tcPr>
                </a:tc>
                <a:tc>
                  <a:txBody>
                    <a:bodyPr/>
                    <a:lstStyle/>
                    <a:p>
                      <a:pPr algn="ctr">
                        <a:defRPr sz="1200" b="1">
                          <a:solidFill>
                            <a:srgbClr val="FFFFFF"/>
                          </a:solidFill>
                          <a:latin typeface="Segoe UI"/>
                        </a:defRPr>
                      </a:pPr>
                      <a:r>
                        <a:t>10-shot</a:t>
                      </a:r>
                    </a:p>
                  </a:txBody>
                  <a:tcPr>
                    <a:solidFill>
                      <a:srgbClr val="4361EE"/>
                    </a:solidFill>
                  </a:tcPr>
                </a:tc>
                <a:tc>
                  <a:txBody>
                    <a:bodyPr/>
                    <a:lstStyle/>
                    <a:p>
                      <a:pPr algn="ctr">
                        <a:defRPr sz="1200" b="1">
                          <a:solidFill>
                            <a:srgbClr val="FFFFFF"/>
                          </a:solidFill>
                          <a:latin typeface="Segoe UI"/>
                        </a:defRPr>
                      </a:pPr>
                      <a:r>
                        <a:t>100-shot</a:t>
                      </a:r>
                    </a:p>
                  </a:txBody>
                  <a:tcPr>
                    <a:solidFill>
                      <a:srgbClr val="4361EE"/>
                    </a:solidFill>
                  </a:tcPr>
                </a:tc>
                <a:extLst>
                  <a:ext uri="{0D108BD9-81ED-4DB2-BD59-A6C34878D82A}">
                    <a16:rowId xmlns:a16="http://schemas.microsoft.com/office/drawing/2014/main" val="10000"/>
                  </a:ext>
                </a:extLst>
              </a:tr>
              <a:tr h="365760">
                <a:tc>
                  <a:txBody>
                    <a:bodyPr/>
                    <a:lstStyle/>
                    <a:p>
                      <a:pPr algn="l">
                        <a:defRPr sz="1100">
                          <a:solidFill>
                            <a:srgbClr val="2D2D44"/>
                          </a:solidFill>
                          <a:latin typeface="Segoe UI"/>
                        </a:defRPr>
                      </a:pPr>
                      <a:r>
                        <a:t>DINO ViT-S/16</a:t>
                      </a:r>
                    </a:p>
                  </a:txBody>
                  <a:tcPr>
                    <a:solidFill>
                      <a:srgbClr val="F8F9FF"/>
                    </a:solidFill>
                  </a:tcPr>
                </a:tc>
                <a:tc>
                  <a:txBody>
                    <a:bodyPr/>
                    <a:lstStyle/>
                    <a:p>
                      <a:pPr algn="ctr">
                        <a:defRPr sz="1100">
                          <a:solidFill>
                            <a:srgbClr val="2D2D44"/>
                          </a:solidFill>
                          <a:latin typeface="Segoe UI"/>
                        </a:defRPr>
                      </a:pPr>
                      <a:r>
                        <a:t>32.3 ± 0.6</a:t>
                      </a:r>
                    </a:p>
                  </a:txBody>
                  <a:tcPr>
                    <a:solidFill>
                      <a:srgbClr val="F8F9FF"/>
                    </a:solidFill>
                  </a:tcPr>
                </a:tc>
                <a:tc>
                  <a:txBody>
                    <a:bodyPr/>
                    <a:lstStyle/>
                    <a:p>
                      <a:pPr algn="ctr">
                        <a:defRPr sz="1100">
                          <a:solidFill>
                            <a:srgbClr val="2D2D44"/>
                          </a:solidFill>
                          <a:latin typeface="Segoe UI"/>
                        </a:defRPr>
                      </a:pPr>
                      <a:r>
                        <a:t>50.5 ± 0.3</a:t>
                      </a:r>
                    </a:p>
                  </a:txBody>
                  <a:tcPr>
                    <a:solidFill>
                      <a:srgbClr val="F8F9FF"/>
                    </a:solidFill>
                  </a:tcPr>
                </a:tc>
                <a:tc>
                  <a:txBody>
                    <a:bodyPr/>
                    <a:lstStyle/>
                    <a:p>
                      <a:pPr algn="ctr">
                        <a:defRPr sz="1100">
                          <a:solidFill>
                            <a:srgbClr val="2D2D44"/>
                          </a:solidFill>
                          <a:latin typeface="Segoe UI"/>
                        </a:defRPr>
                      </a:pPr>
                      <a:r>
                        <a:t>56.1 ± 0.6</a:t>
                      </a:r>
                    </a:p>
                  </a:txBody>
                  <a:tcPr>
                    <a:solidFill>
                      <a:srgbClr val="F8F9FF"/>
                    </a:solidFill>
                  </a:tcPr>
                </a:tc>
                <a:tc>
                  <a:txBody>
                    <a:bodyPr/>
                    <a:lstStyle/>
                    <a:p>
                      <a:pPr algn="ctr">
                        <a:defRPr sz="1100">
                          <a:solidFill>
                            <a:srgbClr val="2D2D44"/>
                          </a:solidFill>
                          <a:latin typeface="Segoe UI"/>
                        </a:defRPr>
                      </a:pPr>
                      <a:r>
                        <a:t>70.3 ± 0.3</a:t>
                      </a:r>
                    </a:p>
                  </a:txBody>
                  <a:tcPr>
                    <a:solidFill>
                      <a:srgbClr val="F8F9FF"/>
                    </a:solidFill>
                  </a:tcPr>
                </a:tc>
                <a:extLst>
                  <a:ext uri="{0D108BD9-81ED-4DB2-BD59-A6C34878D82A}">
                    <a16:rowId xmlns:a16="http://schemas.microsoft.com/office/drawing/2014/main" val="10001"/>
                  </a:ext>
                </a:extLst>
              </a:tr>
              <a:tr h="365760">
                <a:tc>
                  <a:txBody>
                    <a:bodyPr/>
                    <a:lstStyle/>
                    <a:p>
                      <a:pPr algn="l">
                        <a:defRPr sz="1100">
                          <a:solidFill>
                            <a:srgbClr val="2D2D44"/>
                          </a:solidFill>
                          <a:latin typeface="Segoe UI"/>
                        </a:defRPr>
                      </a:pPr>
                      <a:r>
                        <a:t>DINOv2 ViT-S/14</a:t>
                      </a:r>
                    </a:p>
                  </a:txBody>
                  <a:tcPr>
                    <a:solidFill>
                      <a:srgbClr val="FFFFFF"/>
                    </a:solidFill>
                  </a:tcPr>
                </a:tc>
                <a:tc>
                  <a:txBody>
                    <a:bodyPr/>
                    <a:lstStyle/>
                    <a:p>
                      <a:pPr algn="ctr">
                        <a:defRPr sz="1100">
                          <a:solidFill>
                            <a:srgbClr val="2D2D44"/>
                          </a:solidFill>
                          <a:latin typeface="Segoe UI"/>
                        </a:defRPr>
                      </a:pPr>
                      <a:r>
                        <a:t>48.1 ± 3.0</a:t>
                      </a:r>
                    </a:p>
                  </a:txBody>
                  <a:tcPr>
                    <a:solidFill>
                      <a:srgbClr val="FFFFFF"/>
                    </a:solidFill>
                  </a:tcPr>
                </a:tc>
                <a:tc>
                  <a:txBody>
                    <a:bodyPr/>
                    <a:lstStyle/>
                    <a:p>
                      <a:pPr algn="ctr">
                        <a:defRPr sz="1100">
                          <a:solidFill>
                            <a:srgbClr val="2D2D44"/>
                          </a:solidFill>
                          <a:latin typeface="Segoe UI"/>
                        </a:defRPr>
                      </a:pPr>
                      <a:r>
                        <a:t>65.5 ± 0.2</a:t>
                      </a:r>
                    </a:p>
                  </a:txBody>
                  <a:tcPr>
                    <a:solidFill>
                      <a:srgbClr val="FFFFFF"/>
                    </a:solidFill>
                  </a:tcPr>
                </a:tc>
                <a:tc>
                  <a:txBody>
                    <a:bodyPr/>
                    <a:lstStyle/>
                    <a:p>
                      <a:pPr algn="ctr">
                        <a:defRPr sz="1100">
                          <a:solidFill>
                            <a:srgbClr val="2D2D44"/>
                          </a:solidFill>
                          <a:latin typeface="Segoe UI"/>
                        </a:defRPr>
                      </a:pPr>
                      <a:r>
                        <a:t>70.4 ± 0.3</a:t>
                      </a:r>
                    </a:p>
                  </a:txBody>
                  <a:tcPr>
                    <a:solidFill>
                      <a:srgbClr val="FFFFFF"/>
                    </a:solidFill>
                  </a:tcPr>
                </a:tc>
                <a:tc>
                  <a:txBody>
                    <a:bodyPr/>
                    <a:lstStyle/>
                    <a:p>
                      <a:pPr algn="ctr">
                        <a:defRPr sz="1100" b="1">
                          <a:solidFill>
                            <a:srgbClr val="F5576C"/>
                          </a:solidFill>
                          <a:latin typeface="Segoe UI"/>
                        </a:defRPr>
                      </a:pPr>
                      <a:r>
                        <a:t>80.6 ± 0.3</a:t>
                      </a:r>
                    </a:p>
                  </a:txBody>
                  <a:tcPr>
                    <a:solidFill>
                      <a:srgbClr val="FFFFFF"/>
                    </a:solidFill>
                  </a:tcPr>
                </a:tc>
                <a:extLst>
                  <a:ext uri="{0D108BD9-81ED-4DB2-BD59-A6C34878D82A}">
                    <a16:rowId xmlns:a16="http://schemas.microsoft.com/office/drawing/2014/main" val="10002"/>
                  </a:ext>
                </a:extLst>
              </a:tr>
              <a:tr h="365760">
                <a:tc>
                  <a:txBody>
                    <a:bodyPr/>
                    <a:lstStyle/>
                    <a:p>
                      <a:pPr algn="l">
                        <a:defRPr sz="1100">
                          <a:solidFill>
                            <a:srgbClr val="2D2D44"/>
                          </a:solidFill>
                          <a:latin typeface="Segoe UI"/>
                        </a:defRPr>
                      </a:pPr>
                      <a:r>
                        <a:t>DINOv2 (reg)</a:t>
                      </a:r>
                    </a:p>
                  </a:txBody>
                  <a:tcPr>
                    <a:solidFill>
                      <a:srgbClr val="F8F9FF"/>
                    </a:solidFill>
                  </a:tcPr>
                </a:tc>
                <a:tc>
                  <a:txBody>
                    <a:bodyPr/>
                    <a:lstStyle/>
                    <a:p>
                      <a:pPr algn="ctr">
                        <a:defRPr sz="1100" b="1">
                          <a:solidFill>
                            <a:srgbClr val="F5576C"/>
                          </a:solidFill>
                          <a:latin typeface="Segoe UI"/>
                        </a:defRPr>
                      </a:pPr>
                      <a:r>
                        <a:t>49.5 ± 2.5</a:t>
                      </a:r>
                    </a:p>
                  </a:txBody>
                  <a:tcPr>
                    <a:solidFill>
                      <a:srgbClr val="F8F9FF"/>
                    </a:solidFill>
                  </a:tcPr>
                </a:tc>
                <a:tc>
                  <a:txBody>
                    <a:bodyPr/>
                    <a:lstStyle/>
                    <a:p>
                      <a:pPr algn="ctr">
                        <a:defRPr sz="1100" b="1">
                          <a:solidFill>
                            <a:srgbClr val="F5576C"/>
                          </a:solidFill>
                          <a:latin typeface="Segoe UI"/>
                        </a:defRPr>
                      </a:pPr>
                      <a:r>
                        <a:t>67.7 ± 0.5</a:t>
                      </a:r>
                    </a:p>
                  </a:txBody>
                  <a:tcPr>
                    <a:solidFill>
                      <a:srgbClr val="F8F9FF"/>
                    </a:solidFill>
                  </a:tcPr>
                </a:tc>
                <a:tc>
                  <a:txBody>
                    <a:bodyPr/>
                    <a:lstStyle/>
                    <a:p>
                      <a:pPr algn="ctr">
                        <a:defRPr sz="1100" b="1">
                          <a:solidFill>
                            <a:srgbClr val="F5576C"/>
                          </a:solidFill>
                          <a:latin typeface="Segoe UI"/>
                        </a:defRPr>
                      </a:pPr>
                      <a:r>
                        <a:t>71.4 ± 0.3</a:t>
                      </a:r>
                    </a:p>
                  </a:txBody>
                  <a:tcPr>
                    <a:solidFill>
                      <a:srgbClr val="F8F9FF"/>
                    </a:solidFill>
                  </a:tcPr>
                </a:tc>
                <a:tc>
                  <a:txBody>
                    <a:bodyPr/>
                    <a:lstStyle/>
                    <a:p>
                      <a:pPr algn="ctr">
                        <a:defRPr sz="1100">
                          <a:solidFill>
                            <a:srgbClr val="2D2D44"/>
                          </a:solidFill>
                          <a:latin typeface="Segoe UI"/>
                        </a:defRPr>
                      </a:pPr>
                      <a:r>
                        <a:t>80.2 ± 0.3</a:t>
                      </a:r>
                    </a:p>
                  </a:txBody>
                  <a:tcPr>
                    <a:solidFill>
                      <a:srgbClr val="F8F9FF"/>
                    </a:solidFill>
                  </a:tcPr>
                </a:tc>
                <a:extLst>
                  <a:ext uri="{0D108BD9-81ED-4DB2-BD59-A6C34878D82A}">
                    <a16:rowId xmlns:a16="http://schemas.microsoft.com/office/drawing/2014/main" val="10003"/>
                  </a:ext>
                </a:extLst>
              </a:tr>
              <a:tr h="365760">
                <a:tc>
                  <a:txBody>
                    <a:bodyPr/>
                    <a:lstStyle/>
                    <a:p>
                      <a:pPr algn="l">
                        <a:defRPr sz="1100">
                          <a:solidFill>
                            <a:srgbClr val="2D2D44"/>
                          </a:solidFill>
                          <a:latin typeface="Segoe UI"/>
                        </a:defRPr>
                      </a:pPr>
                      <a:r>
                        <a:t>DINOv3 ViT-S/16</a:t>
                      </a:r>
                    </a:p>
                  </a:txBody>
                  <a:tcPr>
                    <a:solidFill>
                      <a:srgbClr val="FFFFFF"/>
                    </a:solidFill>
                  </a:tcPr>
                </a:tc>
                <a:tc>
                  <a:txBody>
                    <a:bodyPr/>
                    <a:lstStyle/>
                    <a:p>
                      <a:pPr algn="ctr">
                        <a:defRPr sz="1100">
                          <a:solidFill>
                            <a:srgbClr val="2D2D44"/>
                          </a:solidFill>
                          <a:latin typeface="Segoe UI"/>
                        </a:defRPr>
                      </a:pPr>
                      <a:r>
                        <a:t>41.5 ± 0.6</a:t>
                      </a:r>
                    </a:p>
                  </a:txBody>
                  <a:tcPr>
                    <a:solidFill>
                      <a:srgbClr val="FFFFFF"/>
                    </a:solidFill>
                  </a:tcPr>
                </a:tc>
                <a:tc>
                  <a:txBody>
                    <a:bodyPr/>
                    <a:lstStyle/>
                    <a:p>
                      <a:pPr algn="ctr">
                        <a:defRPr sz="1100">
                          <a:solidFill>
                            <a:srgbClr val="2D2D44"/>
                          </a:solidFill>
                          <a:latin typeface="Segoe UI"/>
                        </a:defRPr>
                      </a:pPr>
                      <a:r>
                        <a:t>60.9 ± 0.7</a:t>
                      </a:r>
                    </a:p>
                  </a:txBody>
                  <a:tcPr>
                    <a:solidFill>
                      <a:srgbClr val="FFFFFF"/>
                    </a:solidFill>
                  </a:tcPr>
                </a:tc>
                <a:tc>
                  <a:txBody>
                    <a:bodyPr/>
                    <a:lstStyle/>
                    <a:p>
                      <a:pPr algn="ctr">
                        <a:defRPr sz="1100">
                          <a:solidFill>
                            <a:srgbClr val="2D2D44"/>
                          </a:solidFill>
                          <a:latin typeface="Segoe UI"/>
                        </a:defRPr>
                      </a:pPr>
                      <a:r>
                        <a:t>66.1 ± 0.7</a:t>
                      </a:r>
                    </a:p>
                  </a:txBody>
                  <a:tcPr>
                    <a:solidFill>
                      <a:srgbClr val="FFFFFF"/>
                    </a:solidFill>
                  </a:tcPr>
                </a:tc>
                <a:tc>
                  <a:txBody>
                    <a:bodyPr/>
                    <a:lstStyle/>
                    <a:p>
                      <a:pPr algn="ctr">
                        <a:defRPr sz="1100">
                          <a:solidFill>
                            <a:srgbClr val="2D2D44"/>
                          </a:solidFill>
                          <a:latin typeface="Segoe UI"/>
                        </a:defRPr>
                      </a:pPr>
                      <a:r>
                        <a:t>78.8 ± 0.3</a:t>
                      </a:r>
                    </a:p>
                  </a:txBody>
                  <a:tcPr>
                    <a:solidFill>
                      <a:srgbClr val="FFFFFF"/>
                    </a:solidFill>
                  </a:tcPr>
                </a:tc>
                <a:extLst>
                  <a:ext uri="{0D108BD9-81ED-4DB2-BD59-A6C34878D82A}">
                    <a16:rowId xmlns:a16="http://schemas.microsoft.com/office/drawing/2014/main" val="10004"/>
                  </a:ext>
                </a:extLst>
              </a:tr>
              <a:tr h="365760">
                <a:tc>
                  <a:txBody>
                    <a:bodyPr/>
                    <a:lstStyle/>
                    <a:p>
                      <a:pPr algn="l">
                        <a:defRPr sz="1100">
                          <a:solidFill>
                            <a:srgbClr val="2D2D44"/>
                          </a:solidFill>
                          <a:latin typeface="Segoe UI"/>
                        </a:defRPr>
                      </a:pPr>
                      <a:r>
                        <a:t>MoCo v3 ViT-S/16</a:t>
                      </a:r>
                    </a:p>
                  </a:txBody>
                  <a:tcPr>
                    <a:solidFill>
                      <a:srgbClr val="FFFFFF"/>
                    </a:solidFill>
                  </a:tcPr>
                </a:tc>
                <a:tc>
                  <a:txBody>
                    <a:bodyPr/>
                    <a:lstStyle/>
                    <a:p>
                      <a:pPr algn="ctr">
                        <a:defRPr sz="1100">
                          <a:solidFill>
                            <a:srgbClr val="2D2D44"/>
                          </a:solidFill>
                          <a:latin typeface="Segoe UI"/>
                        </a:defRPr>
                      </a:pPr>
                      <a:r>
                        <a:t>7.2 ± 0.0</a:t>
                      </a:r>
                    </a:p>
                  </a:txBody>
                  <a:tcPr>
                    <a:solidFill>
                      <a:srgbClr val="FFFFFF"/>
                    </a:solidFill>
                  </a:tcPr>
                </a:tc>
                <a:tc>
                  <a:txBody>
                    <a:bodyPr/>
                    <a:lstStyle/>
                    <a:p>
                      <a:pPr algn="ctr">
                        <a:defRPr sz="1100">
                          <a:solidFill>
                            <a:srgbClr val="2D2D44"/>
                          </a:solidFill>
                          <a:latin typeface="Segoe UI"/>
                        </a:defRPr>
                      </a:pPr>
                      <a:r>
                        <a:t>12.2 ± 0.2</a:t>
                      </a:r>
                    </a:p>
                  </a:txBody>
                  <a:tcPr>
                    <a:solidFill>
                      <a:srgbClr val="FFFFFF"/>
                    </a:solidFill>
                  </a:tcPr>
                </a:tc>
                <a:tc>
                  <a:txBody>
                    <a:bodyPr/>
                    <a:lstStyle/>
                    <a:p>
                      <a:pPr algn="ctr">
                        <a:defRPr sz="1100">
                          <a:solidFill>
                            <a:srgbClr val="2D2D44"/>
                          </a:solidFill>
                          <a:latin typeface="Segoe UI"/>
                        </a:defRPr>
                      </a:pPr>
                      <a:r>
                        <a:t>14.6 ± 0.2</a:t>
                      </a:r>
                    </a:p>
                  </a:txBody>
                  <a:tcPr>
                    <a:solidFill>
                      <a:srgbClr val="FFFFFF"/>
                    </a:solidFill>
                  </a:tcPr>
                </a:tc>
                <a:tc>
                  <a:txBody>
                    <a:bodyPr/>
                    <a:lstStyle/>
                    <a:p>
                      <a:pPr algn="ctr">
                        <a:defRPr sz="1100">
                          <a:solidFill>
                            <a:srgbClr val="2D2D44"/>
                          </a:solidFill>
                          <a:latin typeface="Segoe UI"/>
                        </a:defRPr>
                      </a:pPr>
                      <a:r>
                        <a:t>24.5 ± 0.2</a:t>
                      </a:r>
                    </a:p>
                  </a:txBody>
                  <a:tcPr>
                    <a:solidFill>
                      <a:srgbClr val="FFFFFF"/>
                    </a:solidFill>
                  </a:tcPr>
                </a:tc>
                <a:extLst>
                  <a:ext uri="{0D108BD9-81ED-4DB2-BD59-A6C34878D82A}">
                    <a16:rowId xmlns:a16="http://schemas.microsoft.com/office/drawing/2014/main" val="4198405316"/>
                  </a:ext>
                </a:extLst>
              </a:tr>
              <a:tr h="365760">
                <a:tc>
                  <a:txBody>
                    <a:bodyPr/>
                    <a:lstStyle/>
                    <a:p>
                      <a:pPr algn="l">
                        <a:defRPr sz="1100">
                          <a:solidFill>
                            <a:srgbClr val="2D2D44"/>
                          </a:solidFill>
                          <a:latin typeface="Segoe UI"/>
                        </a:defRPr>
                      </a:pPr>
                      <a:r>
                        <a:t>iBOT ViT-S/16</a:t>
                      </a:r>
                    </a:p>
                  </a:txBody>
                  <a:tcPr>
                    <a:solidFill>
                      <a:srgbClr val="FFFFFF"/>
                    </a:solidFill>
                  </a:tcPr>
                </a:tc>
                <a:tc>
                  <a:txBody>
                    <a:bodyPr/>
                    <a:lstStyle/>
                    <a:p>
                      <a:pPr algn="ctr">
                        <a:defRPr sz="1100">
                          <a:solidFill>
                            <a:srgbClr val="2D2D44"/>
                          </a:solidFill>
                          <a:latin typeface="Segoe UI"/>
                        </a:defRPr>
                      </a:pPr>
                      <a:r>
                        <a:t>34.6 ± 0.4</a:t>
                      </a:r>
                    </a:p>
                  </a:txBody>
                  <a:tcPr>
                    <a:solidFill>
                      <a:srgbClr val="FFFFFF"/>
                    </a:solidFill>
                  </a:tcPr>
                </a:tc>
                <a:tc>
                  <a:txBody>
                    <a:bodyPr/>
                    <a:lstStyle/>
                    <a:p>
                      <a:pPr algn="ctr">
                        <a:defRPr sz="1100">
                          <a:solidFill>
                            <a:srgbClr val="2D2D44"/>
                          </a:solidFill>
                          <a:latin typeface="Segoe UI"/>
                        </a:defRPr>
                      </a:pPr>
                      <a:r>
                        <a:t>52.2 ± 0.5</a:t>
                      </a:r>
                    </a:p>
                  </a:txBody>
                  <a:tcPr>
                    <a:solidFill>
                      <a:srgbClr val="FFFFFF"/>
                    </a:solidFill>
                  </a:tcPr>
                </a:tc>
                <a:tc>
                  <a:txBody>
                    <a:bodyPr/>
                    <a:lstStyle/>
                    <a:p>
                      <a:pPr algn="ctr">
                        <a:defRPr sz="1100">
                          <a:solidFill>
                            <a:srgbClr val="2D2D44"/>
                          </a:solidFill>
                          <a:latin typeface="Segoe UI"/>
                        </a:defRPr>
                      </a:pPr>
                      <a:r>
                        <a:t>57.8 ± 0.3</a:t>
                      </a:r>
                    </a:p>
                  </a:txBody>
                  <a:tcPr>
                    <a:solidFill>
                      <a:srgbClr val="FFFFFF"/>
                    </a:solidFill>
                  </a:tcPr>
                </a:tc>
                <a:tc>
                  <a:txBody>
                    <a:bodyPr/>
                    <a:lstStyle/>
                    <a:p>
                      <a:pPr algn="ctr">
                        <a:defRPr sz="1100">
                          <a:solidFill>
                            <a:srgbClr val="2D2D44"/>
                          </a:solidFill>
                          <a:latin typeface="Segoe UI"/>
                        </a:defRPr>
                      </a:pPr>
                      <a:r>
                        <a:t>71.7 ± 0.3</a:t>
                      </a:r>
                    </a:p>
                  </a:txBody>
                  <a:tcPr>
                    <a:solidFill>
                      <a:srgbClr val="FFFFFF"/>
                    </a:solidFill>
                  </a:tcPr>
                </a:tc>
                <a:extLst>
                  <a:ext uri="{0D108BD9-81ED-4DB2-BD59-A6C34878D82A}">
                    <a16:rowId xmlns:a16="http://schemas.microsoft.com/office/drawing/2014/main" val="2258992797"/>
                  </a:ext>
                </a:extLst>
              </a:tr>
              <a:tr h="365760">
                <a:tc>
                  <a:txBody>
                    <a:bodyPr/>
                    <a:lstStyle/>
                    <a:p>
                      <a:pPr algn="l">
                        <a:defRPr sz="1100">
                          <a:solidFill>
                            <a:srgbClr val="2D2D44"/>
                          </a:solidFill>
                          <a:latin typeface="Segoe UI"/>
                        </a:defRPr>
                      </a:pPr>
                      <a:r>
                        <a:t>AttMask ViT-S/16</a:t>
                      </a:r>
                    </a:p>
                  </a:txBody>
                  <a:tcPr>
                    <a:solidFill>
                      <a:srgbClr val="FFFFFF"/>
                    </a:solidFill>
                  </a:tcPr>
                </a:tc>
                <a:tc>
                  <a:txBody>
                    <a:bodyPr/>
                    <a:lstStyle/>
                    <a:p>
                      <a:pPr algn="ctr">
                        <a:defRPr sz="1100">
                          <a:solidFill>
                            <a:srgbClr val="2D2D44"/>
                          </a:solidFill>
                          <a:latin typeface="Segoe UI"/>
                        </a:defRPr>
                      </a:pPr>
                      <a:r>
                        <a:t>35.4 ± 1.0</a:t>
                      </a:r>
                    </a:p>
                  </a:txBody>
                  <a:tcPr>
                    <a:solidFill>
                      <a:srgbClr val="FFFFFF"/>
                    </a:solidFill>
                  </a:tcPr>
                </a:tc>
                <a:tc>
                  <a:txBody>
                    <a:bodyPr/>
                    <a:lstStyle/>
                    <a:p>
                      <a:pPr algn="ctr">
                        <a:defRPr sz="1100">
                          <a:solidFill>
                            <a:srgbClr val="2D2D44"/>
                          </a:solidFill>
                          <a:latin typeface="Segoe UI"/>
                        </a:defRPr>
                      </a:pPr>
                      <a:r>
                        <a:t>53.9 ± 0.6</a:t>
                      </a:r>
                    </a:p>
                  </a:txBody>
                  <a:tcPr>
                    <a:solidFill>
                      <a:srgbClr val="FFFFFF"/>
                    </a:solidFill>
                  </a:tcPr>
                </a:tc>
                <a:tc>
                  <a:txBody>
                    <a:bodyPr/>
                    <a:lstStyle/>
                    <a:p>
                      <a:pPr algn="ctr">
                        <a:defRPr sz="1100">
                          <a:solidFill>
                            <a:srgbClr val="2D2D44"/>
                          </a:solidFill>
                          <a:latin typeface="Segoe UI"/>
                        </a:defRPr>
                      </a:pPr>
                      <a:r>
                        <a:t>58.9 ± 0.5</a:t>
                      </a:r>
                    </a:p>
                  </a:txBody>
                  <a:tcPr>
                    <a:solidFill>
                      <a:srgbClr val="FFFFFF"/>
                    </a:solidFill>
                  </a:tcPr>
                </a:tc>
                <a:tc>
                  <a:txBody>
                    <a:bodyPr/>
                    <a:lstStyle/>
                    <a:p>
                      <a:pPr algn="ctr">
                        <a:defRPr sz="1100">
                          <a:solidFill>
                            <a:srgbClr val="2D2D44"/>
                          </a:solidFill>
                          <a:latin typeface="Segoe UI"/>
                        </a:defRPr>
                      </a:pPr>
                      <a:r>
                        <a:t>72.2 ± 0.1</a:t>
                      </a:r>
                    </a:p>
                  </a:txBody>
                  <a:tcPr>
                    <a:solidFill>
                      <a:srgbClr val="FFFFFF"/>
                    </a:solidFill>
                  </a:tcPr>
                </a:tc>
                <a:extLst>
                  <a:ext uri="{0D108BD9-81ED-4DB2-BD59-A6C34878D82A}">
                    <a16:rowId xmlns:a16="http://schemas.microsoft.com/office/drawing/2014/main" val="2190756292"/>
                  </a:ext>
                </a:extLst>
              </a:tr>
            </a:tbl>
          </a:graphicData>
        </a:graphic>
      </p:graphicFrame>
      <p:sp>
        <p:nvSpPr>
          <p:cNvPr id="5" name="TextBox 4"/>
          <p:cNvSpPr txBox="1"/>
          <p:nvPr/>
        </p:nvSpPr>
        <p:spPr>
          <a:xfrm>
            <a:off x="7589520" y="1645920"/>
            <a:ext cx="3840480" cy="4114800"/>
          </a:xfrm>
          <a:prstGeom prst="rect">
            <a:avLst/>
          </a:prstGeom>
          <a:noFill/>
        </p:spPr>
        <p:txBody>
          <a:bodyPr wrap="square" lIns="0" tIns="0" rIns="0" bIns="0">
            <a:spAutoFit/>
          </a:bodyPr>
          <a:lstStyle/>
          <a:p>
            <a:pPr>
              <a:lnSpc>
                <a:spcPct val="120000"/>
              </a:lnSpc>
              <a:spcAft>
                <a:spcPts val="800"/>
              </a:spcAft>
              <a:defRPr sz="1500">
                <a:solidFill>
                  <a:srgbClr val="2D2D44"/>
                </a:solidFill>
                <a:latin typeface="Segoe UI"/>
              </a:defRPr>
            </a:pPr>
            <a:r>
              <a:rPr sz="1500" b="1">
                <a:solidFill>
                  <a:srgbClr val="2D2D44"/>
                </a:solidFill>
                <a:latin typeface="Segoe UI"/>
              </a:rPr>
              <a:t>CIFAR-100 is 10× harder</a:t>
            </a:r>
            <a:r>
              <a:rPr sz="1500" b="0">
                <a:solidFill>
                  <a:srgbClr val="2D2D44"/>
                </a:solidFill>
                <a:latin typeface="Segoe UI"/>
              </a:rPr>
              <a:t> (100 classes, finer-grained distinctions).</a:t>
            </a:r>
          </a:p>
          <a:p>
            <a:pPr>
              <a:lnSpc>
                <a:spcPct val="120000"/>
              </a:lnSpc>
              <a:spcAft>
                <a:spcPts val="800"/>
              </a:spcAft>
              <a:defRPr sz="1500">
                <a:solidFill>
                  <a:srgbClr val="2D2D44"/>
                </a:solidFill>
                <a:latin typeface="Segoe UI"/>
              </a:defRPr>
            </a:pPr>
            <a:r>
              <a:rPr sz="1500" b="0">
                <a:solidFill>
                  <a:srgbClr val="2D2D44"/>
                </a:solidFill>
                <a:latin typeface="Segoe UI"/>
              </a:rPr>
              <a:t>DINOv2 achieves </a:t>
            </a:r>
            <a:r>
              <a:rPr sz="1500" b="1">
                <a:solidFill>
                  <a:srgbClr val="2D2D44"/>
                </a:solidFill>
                <a:latin typeface="Segoe UI"/>
              </a:rPr>
              <a:t>+82pp gain</a:t>
            </a:r>
            <a:r>
              <a:rPr sz="1500" b="0">
                <a:solidFill>
                  <a:srgbClr val="2D2D44"/>
                </a:solidFill>
                <a:latin typeface="Segoe UI"/>
              </a:rPr>
              <a:t> over random (1%) at 100 shots.</a:t>
            </a:r>
          </a:p>
          <a:p>
            <a:pPr>
              <a:lnSpc>
                <a:spcPct val="120000"/>
              </a:lnSpc>
              <a:spcAft>
                <a:spcPts val="800"/>
              </a:spcAft>
              <a:defRPr sz="1500">
                <a:solidFill>
                  <a:srgbClr val="2D2D44"/>
                </a:solidFill>
                <a:latin typeface="Segoe UI"/>
              </a:defRPr>
            </a:pPr>
            <a:r>
              <a:rPr sz="1500" b="0">
                <a:solidFill>
                  <a:srgbClr val="2D2D44"/>
                </a:solidFill>
                <a:latin typeface="Segoe UI"/>
              </a:rPr>
              <a:t>Model ranking is </a:t>
            </a:r>
            <a:r>
              <a:rPr sz="1500" b="1">
                <a:solidFill>
                  <a:srgbClr val="2D2D44"/>
                </a:solidFill>
                <a:latin typeface="Segoe UI"/>
              </a:rPr>
              <a:t>perfectly preserved</a:t>
            </a:r>
            <a:r>
              <a:rPr sz="1500" b="0">
                <a:solidFill>
                  <a:srgbClr val="2D2D44"/>
                </a:solidFill>
                <a:latin typeface="Segoe UI"/>
              </a:rPr>
              <a:t> across both datasets.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9144000" cy="1005840"/>
          </a:xfrm>
          <a:prstGeom prst="rect">
            <a:avLst/>
          </a:prstGeom>
          <a:noFill/>
        </p:spPr>
        <p:txBody>
          <a:bodyPr wrap="square" lIns="0" tIns="0" rIns="0" bIns="0">
            <a:spAutoFit/>
          </a:bodyPr>
          <a:lstStyle/>
          <a:p>
            <a:pPr>
              <a:defRPr sz="2800" b="1">
                <a:solidFill>
                  <a:srgbClr val="4361EE"/>
                </a:solidFill>
                <a:latin typeface="Segoe UI"/>
              </a:defRPr>
            </a:pPr>
            <a:r>
              <a:t>CLS Token vs. Mean Pooling</a:t>
            </a:r>
          </a:p>
        </p:txBody>
      </p:sp>
      <p:sp>
        <p:nvSpPr>
          <p:cNvPr id="5" name="Rounded Rectangle 4"/>
          <p:cNvSpPr/>
          <p:nvPr/>
        </p:nvSpPr>
        <p:spPr>
          <a:xfrm>
            <a:off x="6492240" y="1645920"/>
            <a:ext cx="4937760" cy="1188720"/>
          </a:xfrm>
          <a:prstGeom prst="roundRect">
            <a:avLst/>
          </a:prstGeom>
          <a:solidFill>
            <a:srgbClr val="F5F7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629400" y="1737360"/>
            <a:ext cx="4663440" cy="1005840"/>
          </a:xfrm>
          <a:prstGeom prst="rect">
            <a:avLst/>
          </a:prstGeom>
          <a:noFill/>
        </p:spPr>
        <p:txBody>
          <a:bodyPr wrap="square">
            <a:spAutoFit/>
          </a:bodyPr>
          <a:lstStyle/>
          <a:p>
            <a:pPr>
              <a:defRPr sz="1300" b="1">
                <a:solidFill>
                  <a:srgbClr val="4361EE"/>
                </a:solidFill>
                <a:latin typeface="Segoe UI"/>
              </a:defRPr>
            </a:pPr>
            <a:r>
              <a:t>DINOv1: CLS wins big</a:t>
            </a:r>
          </a:p>
          <a:p>
            <a:pPr>
              <a:spcBef>
                <a:spcPts val="400"/>
              </a:spcBef>
              <a:defRPr sz="1100">
                <a:solidFill>
                  <a:srgbClr val="2D2D44"/>
                </a:solidFill>
                <a:latin typeface="Segoe UI"/>
              </a:defRPr>
            </a:pPr>
            <a:r>
              <a:t>88.4% (CLS) vs 64.4% (Mean) — 24pp gap. CLS is explicitly optimised during pretraining.</a:t>
            </a:r>
          </a:p>
        </p:txBody>
      </p:sp>
      <p:sp>
        <p:nvSpPr>
          <p:cNvPr id="7" name="Rounded Rectangle 6"/>
          <p:cNvSpPr/>
          <p:nvPr/>
        </p:nvSpPr>
        <p:spPr>
          <a:xfrm>
            <a:off x="6492240" y="3017520"/>
            <a:ext cx="4937760" cy="1188720"/>
          </a:xfrm>
          <a:prstGeom prst="roundRect">
            <a:avLst/>
          </a:prstGeom>
          <a:solidFill>
            <a:srgbClr val="F0FDFA"/>
          </a:solidFill>
          <a:ln w="19050">
            <a:solidFill>
              <a:srgbClr val="11998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29400" y="3108960"/>
            <a:ext cx="4663440" cy="1005840"/>
          </a:xfrm>
          <a:prstGeom prst="rect">
            <a:avLst/>
          </a:prstGeom>
          <a:noFill/>
        </p:spPr>
        <p:txBody>
          <a:bodyPr wrap="square">
            <a:spAutoFit/>
          </a:bodyPr>
          <a:lstStyle/>
          <a:p>
            <a:pPr>
              <a:defRPr sz="1300" b="1">
                <a:solidFill>
                  <a:srgbClr val="11998E"/>
                </a:solidFill>
                <a:latin typeface="Segoe UI"/>
              </a:defRPr>
            </a:pPr>
            <a:r>
              <a:t>DINOv2: Gap closes</a:t>
            </a:r>
          </a:p>
          <a:p>
            <a:pPr>
              <a:spcBef>
                <a:spcPts val="400"/>
              </a:spcBef>
              <a:defRPr sz="1100">
                <a:solidFill>
                  <a:srgbClr val="2D2D44"/>
                </a:solidFill>
                <a:latin typeface="Segoe UI"/>
              </a:defRPr>
            </a:pPr>
            <a:r>
              <a:t>94.7% (CLS) vs 92.1% (Mean) — 2.6pp gap. MIM trains individual patch tokens to carry semantic content.</a:t>
            </a:r>
          </a:p>
        </p:txBody>
      </p:sp>
      <p:sp>
        <p:nvSpPr>
          <p:cNvPr id="9" name="Rounded Rectangle 8"/>
          <p:cNvSpPr/>
          <p:nvPr/>
        </p:nvSpPr>
        <p:spPr>
          <a:xfrm>
            <a:off x="6492240" y="4389120"/>
            <a:ext cx="4937760" cy="1188720"/>
          </a:xfrm>
          <a:prstGeom prst="roundRect">
            <a:avLst/>
          </a:prstGeom>
          <a:solidFill>
            <a:srgbClr val="FFF5F5"/>
          </a:solidFill>
          <a:ln w="19050">
            <a:solidFill>
              <a:srgbClr val="F557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629400" y="4480560"/>
            <a:ext cx="4663440" cy="1005840"/>
          </a:xfrm>
          <a:prstGeom prst="rect">
            <a:avLst/>
          </a:prstGeom>
          <a:noFill/>
        </p:spPr>
        <p:txBody>
          <a:bodyPr wrap="square">
            <a:spAutoFit/>
          </a:bodyPr>
          <a:lstStyle/>
          <a:p>
            <a:pPr>
              <a:defRPr sz="1300" b="1">
                <a:solidFill>
                  <a:srgbClr val="F5576C"/>
                </a:solidFill>
                <a:latin typeface="Segoe UI"/>
              </a:defRPr>
            </a:pPr>
            <a:r>
              <a:t>MoCo v3: Both poor</a:t>
            </a:r>
          </a:p>
          <a:p>
            <a:pPr>
              <a:spcBef>
                <a:spcPts val="400"/>
              </a:spcBef>
              <a:defRPr sz="1100">
                <a:solidFill>
                  <a:srgbClr val="2D2D44"/>
                </a:solidFill>
                <a:latin typeface="Segoe UI"/>
              </a:defRPr>
            </a:pPr>
            <a:r>
              <a:t>~44% either way. Feature representation quality, not pooling method, is the bottleneck.</a:t>
            </a:r>
          </a:p>
        </p:txBody>
      </p:sp>
      <p:pic>
        <p:nvPicPr>
          <p:cNvPr id="11" name="Picture 10" descr="pooling_comparison_bars.png"/>
          <p:cNvPicPr>
            <a:picLocks noChangeAspect="1"/>
          </p:cNvPicPr>
          <p:nvPr/>
        </p:nvPicPr>
        <p:blipFill>
          <a:blip r:embed="rId3"/>
          <a:stretch>
            <a:fillRect/>
          </a:stretch>
        </p:blipFill>
        <p:spPr>
          <a:xfrm>
            <a:off x="731520" y="1645920"/>
            <a:ext cx="5486400" cy="4114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9144000" cy="1005840"/>
          </a:xfrm>
          <a:prstGeom prst="rect">
            <a:avLst/>
          </a:prstGeom>
          <a:noFill/>
        </p:spPr>
        <p:txBody>
          <a:bodyPr wrap="square" lIns="0" tIns="0" rIns="0" bIns="0">
            <a:spAutoFit/>
          </a:bodyPr>
          <a:lstStyle/>
          <a:p>
            <a:pPr>
              <a:defRPr sz="2800" b="1">
                <a:solidFill>
                  <a:srgbClr val="4361EE"/>
                </a:solidFill>
                <a:latin typeface="Segoe UI"/>
              </a:defRPr>
            </a:pPr>
            <a:r>
              <a:t>Effect of k (Number of Neighbours)</a:t>
            </a:r>
          </a:p>
        </p:txBody>
      </p:sp>
      <p:sp>
        <p:nvSpPr>
          <p:cNvPr id="5" name="TextBox 4"/>
          <p:cNvSpPr txBox="1"/>
          <p:nvPr/>
        </p:nvSpPr>
        <p:spPr>
          <a:xfrm>
            <a:off x="6583680" y="1645920"/>
            <a:ext cx="4846320" cy="4114800"/>
          </a:xfrm>
          <a:prstGeom prst="rect">
            <a:avLst/>
          </a:prstGeom>
          <a:noFill/>
        </p:spPr>
        <p:txBody>
          <a:bodyPr wrap="square" lIns="0" tIns="0" rIns="0" bIns="0">
            <a:spAutoFit/>
          </a:bodyPr>
          <a:lstStyle/>
          <a:p>
            <a:pPr>
              <a:lnSpc>
                <a:spcPct val="120000"/>
              </a:lnSpc>
              <a:spcAft>
                <a:spcPts val="800"/>
              </a:spcAft>
              <a:defRPr sz="1500">
                <a:solidFill>
                  <a:srgbClr val="2D2D44"/>
                </a:solidFill>
                <a:latin typeface="Segoe UI"/>
              </a:defRPr>
            </a:pPr>
            <a:r>
              <a:rPr sz="1500" b="1">
                <a:solidFill>
                  <a:srgbClr val="2D2D44"/>
                </a:solidFill>
                <a:latin typeface="Segoe UI"/>
              </a:rPr>
              <a:t>k has a moderate effect</a:t>
            </a:r>
            <a:r>
              <a:rPr sz="1500" b="0">
                <a:solidFill>
                  <a:srgbClr val="2D2D44"/>
                </a:solidFill>
                <a:latin typeface="Segoe UI"/>
              </a:rPr>
              <a:t>: k=1→k=20 improves classification accuracy by 1–5pp.</a:t>
            </a:r>
          </a:p>
          <a:p>
            <a:pPr>
              <a:lnSpc>
                <a:spcPct val="120000"/>
              </a:lnSpc>
              <a:spcAft>
                <a:spcPts val="800"/>
              </a:spcAft>
              <a:defRPr sz="1500">
                <a:solidFill>
                  <a:srgbClr val="2D2D44"/>
                </a:solidFill>
                <a:latin typeface="Segoe UI"/>
              </a:defRPr>
            </a:pPr>
            <a:r>
              <a:rPr sz="1500" b="1">
                <a:solidFill>
                  <a:srgbClr val="2D2D44"/>
                </a:solidFill>
                <a:latin typeface="Segoe UI"/>
              </a:rPr>
              <a:t>DINOv2 is highly robust to k</a:t>
            </a:r>
            <a:r>
              <a:rPr sz="1500" b="0">
                <a:solidFill>
                  <a:srgbClr val="2D2D44"/>
                </a:solidFill>
                <a:latin typeface="Segoe UI"/>
              </a:rPr>
              <a:t>: performance stays ≥93% for all tested k values on CIFAR-10.</a:t>
            </a:r>
          </a:p>
          <a:p>
            <a:pPr>
              <a:lnSpc>
                <a:spcPct val="120000"/>
              </a:lnSpc>
              <a:spcAft>
                <a:spcPts val="800"/>
              </a:spcAft>
              <a:defRPr sz="1500">
                <a:solidFill>
                  <a:srgbClr val="2D2D44"/>
                </a:solidFill>
                <a:latin typeface="Segoe UI"/>
              </a:defRPr>
            </a:pPr>
            <a:r>
              <a:rPr sz="1500" b="1">
                <a:solidFill>
                  <a:srgbClr val="2D2D44"/>
                </a:solidFill>
                <a:latin typeface="Segoe UI"/>
              </a:rPr>
              <a:t>MoCo v3 benefits more from larger k</a:t>
            </a:r>
            <a:r>
              <a:rPr sz="1500" b="0">
                <a:solidFill>
                  <a:srgbClr val="2D2D44"/>
                </a:solidFill>
                <a:latin typeface="Segoe UI"/>
              </a:rPr>
              <a:t>: its less structured feature space has noisy clusters, so majority voting helps reduce noise.</a:t>
            </a:r>
          </a:p>
        </p:txBody>
      </p:sp>
      <p:pic>
        <p:nvPicPr>
          <p:cNvPr id="6" name="Picture 5" descr="k_sensitivity_heatmap.png"/>
          <p:cNvPicPr>
            <a:picLocks noChangeAspect="1"/>
          </p:cNvPicPr>
          <p:nvPr/>
        </p:nvPicPr>
        <p:blipFill>
          <a:blip r:embed="rId3"/>
          <a:stretch>
            <a:fillRect/>
          </a:stretch>
        </p:blipFill>
        <p:spPr>
          <a:xfrm>
            <a:off x="731520" y="1645920"/>
            <a:ext cx="5486400" cy="41148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9144000" cy="1005840"/>
          </a:xfrm>
          <a:prstGeom prst="rect">
            <a:avLst/>
          </a:prstGeom>
          <a:noFill/>
        </p:spPr>
        <p:txBody>
          <a:bodyPr wrap="square" lIns="0" tIns="0" rIns="0" bIns="0">
            <a:spAutoFit/>
          </a:bodyPr>
          <a:lstStyle/>
          <a:p>
            <a:pPr>
              <a:defRPr sz="2800" b="1">
                <a:solidFill>
                  <a:srgbClr val="4361EE"/>
                </a:solidFill>
                <a:latin typeface="Segoe UI"/>
              </a:defRPr>
            </a:pPr>
            <a:r>
              <a:t>Gain Over Random Baseline</a:t>
            </a:r>
          </a:p>
        </p:txBody>
      </p:sp>
      <p:sp>
        <p:nvSpPr>
          <p:cNvPr id="5" name="Rounded Rectangle 4"/>
          <p:cNvSpPr/>
          <p:nvPr/>
        </p:nvSpPr>
        <p:spPr>
          <a:xfrm>
            <a:off x="6583680" y="1828800"/>
            <a:ext cx="4846320" cy="1737360"/>
          </a:xfrm>
          <a:prstGeom prst="roundRect">
            <a:avLst/>
          </a:prstGeom>
          <a:solidFill>
            <a:srgbClr val="F5F7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675120" y="2011680"/>
            <a:ext cx="4663440" cy="1371600"/>
          </a:xfrm>
          <a:prstGeom prst="rect">
            <a:avLst/>
          </a:prstGeom>
          <a:noFill/>
        </p:spPr>
        <p:txBody>
          <a:bodyPr wrap="square">
            <a:spAutoFit/>
          </a:bodyPr>
          <a:lstStyle/>
          <a:p>
            <a:pPr>
              <a:defRPr sz="4400" b="1">
                <a:solidFill>
                  <a:srgbClr val="4361EE"/>
                </a:solidFill>
                <a:latin typeface="Segoe UI"/>
              </a:defRPr>
            </a:pPr>
            <a:r>
              <a:t>+85pp</a:t>
            </a:r>
          </a:p>
          <a:p>
            <a:pPr>
              <a:defRPr sz="1200" b="1">
                <a:solidFill>
                  <a:srgbClr val="2D2D44"/>
                </a:solidFill>
                <a:latin typeface="Segoe UI"/>
              </a:defRPr>
            </a:pPr>
            <a:r>
              <a:t>DINOv2 gain on CIFAR-10 at 100-shot (vs 10% random)</a:t>
            </a:r>
          </a:p>
        </p:txBody>
      </p:sp>
      <p:sp>
        <p:nvSpPr>
          <p:cNvPr id="7" name="Rounded Rectangle 6"/>
          <p:cNvSpPr/>
          <p:nvPr/>
        </p:nvSpPr>
        <p:spPr>
          <a:xfrm>
            <a:off x="6583680" y="3840480"/>
            <a:ext cx="4846320" cy="1737360"/>
          </a:xfrm>
          <a:prstGeom prst="roundRect">
            <a:avLst/>
          </a:prstGeom>
          <a:solidFill>
            <a:srgbClr val="F0FDFA"/>
          </a:solidFill>
          <a:ln w="19050">
            <a:solidFill>
              <a:srgbClr val="11998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75120" y="4023360"/>
            <a:ext cx="4663440" cy="1371600"/>
          </a:xfrm>
          <a:prstGeom prst="rect">
            <a:avLst/>
          </a:prstGeom>
          <a:noFill/>
        </p:spPr>
        <p:txBody>
          <a:bodyPr wrap="square">
            <a:spAutoFit/>
          </a:bodyPr>
          <a:lstStyle/>
          <a:p>
            <a:pPr>
              <a:defRPr sz="4400" b="1">
                <a:solidFill>
                  <a:srgbClr val="11998E"/>
                </a:solidFill>
                <a:latin typeface="Segoe UI"/>
              </a:defRPr>
            </a:pPr>
            <a:r>
              <a:t>+82pp</a:t>
            </a:r>
          </a:p>
          <a:p>
            <a:pPr>
              <a:defRPr sz="1200" b="1">
                <a:solidFill>
                  <a:srgbClr val="2D2D44"/>
                </a:solidFill>
                <a:latin typeface="Segoe UI"/>
              </a:defRPr>
            </a:pPr>
            <a:r>
              <a:t>DINOv2 gain on CIFAR-100 at 100-shot (vs 1% random)</a:t>
            </a:r>
          </a:p>
        </p:txBody>
      </p:sp>
      <p:pic>
        <p:nvPicPr>
          <p:cNvPr id="9" name="Picture 8" descr="gain_over_random.png"/>
          <p:cNvPicPr>
            <a:picLocks noChangeAspect="1"/>
          </p:cNvPicPr>
          <p:nvPr/>
        </p:nvPicPr>
        <p:blipFill>
          <a:blip r:embed="rId3"/>
          <a:stretch>
            <a:fillRect/>
          </a:stretch>
        </p:blipFill>
        <p:spPr>
          <a:xfrm>
            <a:off x="731520" y="1645920"/>
            <a:ext cx="5486400" cy="4114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9144000" cy="1005840"/>
          </a:xfrm>
          <a:prstGeom prst="rect">
            <a:avLst/>
          </a:prstGeom>
          <a:noFill/>
        </p:spPr>
        <p:txBody>
          <a:bodyPr wrap="square" lIns="0" tIns="0" rIns="0" bIns="0">
            <a:spAutoFit/>
          </a:bodyPr>
          <a:lstStyle/>
          <a:p>
            <a:pPr>
              <a:defRPr sz="2800" b="1">
                <a:solidFill>
                  <a:srgbClr val="4361EE"/>
                </a:solidFill>
                <a:latin typeface="Segoe UI"/>
              </a:defRPr>
            </a:pPr>
            <a:r>
              <a:t>Key Findings</a:t>
            </a:r>
          </a:p>
        </p:txBody>
      </p:sp>
      <p:graphicFrame>
        <p:nvGraphicFramePr>
          <p:cNvPr id="4" name="Table 3"/>
          <p:cNvGraphicFramePr>
            <a:graphicFrameLocks noGrp="1"/>
          </p:cNvGraphicFramePr>
          <p:nvPr/>
        </p:nvGraphicFramePr>
        <p:xfrm>
          <a:off x="731520" y="1645920"/>
          <a:ext cx="10725912" cy="4114800"/>
        </p:xfrm>
        <a:graphic>
          <a:graphicData uri="http://schemas.openxmlformats.org/drawingml/2006/table">
            <a:tbl>
              <a:tblPr firstRow="1" bandRow="1">
                <a:tableStyleId>{5C22544A-7EE6-4342-B048-85BDC9FD1C3A}</a:tableStyleId>
              </a:tblPr>
              <a:tblGrid>
                <a:gridCol w="54864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5788152">
                  <a:extLst>
                    <a:ext uri="{9D8B030D-6E8A-4147-A177-3AD203B41FA5}">
                      <a16:colId xmlns:a16="http://schemas.microsoft.com/office/drawing/2014/main" val="20002"/>
                    </a:ext>
                  </a:extLst>
                </a:gridCol>
              </a:tblGrid>
              <a:tr h="587828">
                <a:tc>
                  <a:txBody>
                    <a:bodyPr/>
                    <a:lstStyle/>
                    <a:p>
                      <a:pPr algn="ctr">
                        <a:defRPr sz="1200" b="1">
                          <a:solidFill>
                            <a:srgbClr val="FFFFFF"/>
                          </a:solidFill>
                          <a:latin typeface="Segoe UI"/>
                        </a:defRPr>
                      </a:pPr>
                      <a:r>
                        <a:t>#</a:t>
                      </a:r>
                    </a:p>
                  </a:txBody>
                  <a:tcPr>
                    <a:solidFill>
                      <a:srgbClr val="4361EE"/>
                    </a:solidFill>
                  </a:tcPr>
                </a:tc>
                <a:tc>
                  <a:txBody>
                    <a:bodyPr/>
                    <a:lstStyle/>
                    <a:p>
                      <a:pPr algn="ctr">
                        <a:defRPr sz="1200" b="1">
                          <a:solidFill>
                            <a:srgbClr val="FFFFFF"/>
                          </a:solidFill>
                          <a:latin typeface="Segoe UI"/>
                        </a:defRPr>
                      </a:pPr>
                      <a:r>
                        <a:t>Finding</a:t>
                      </a:r>
                    </a:p>
                  </a:txBody>
                  <a:tcPr>
                    <a:solidFill>
                      <a:srgbClr val="4361EE"/>
                    </a:solidFill>
                  </a:tcPr>
                </a:tc>
                <a:tc>
                  <a:txBody>
                    <a:bodyPr/>
                    <a:lstStyle/>
                    <a:p>
                      <a:pPr algn="ctr">
                        <a:defRPr sz="1200" b="1">
                          <a:solidFill>
                            <a:srgbClr val="FFFFFF"/>
                          </a:solidFill>
                          <a:latin typeface="Segoe UI"/>
                        </a:defRPr>
                      </a:pPr>
                      <a:r>
                        <a:t>Evidence</a:t>
                      </a:r>
                    </a:p>
                  </a:txBody>
                  <a:tcPr>
                    <a:solidFill>
                      <a:srgbClr val="4361EE"/>
                    </a:solidFill>
                  </a:tcPr>
                </a:tc>
                <a:extLst>
                  <a:ext uri="{0D108BD9-81ED-4DB2-BD59-A6C34878D82A}">
                    <a16:rowId xmlns:a16="http://schemas.microsoft.com/office/drawing/2014/main" val="10000"/>
                  </a:ext>
                </a:extLst>
              </a:tr>
              <a:tr h="587828">
                <a:tc>
                  <a:txBody>
                    <a:bodyPr/>
                    <a:lstStyle/>
                    <a:p>
                      <a:pPr algn="l">
                        <a:defRPr sz="1100">
                          <a:solidFill>
                            <a:srgbClr val="2D2D44"/>
                          </a:solidFill>
                          <a:latin typeface="Segoe UI"/>
                        </a:defRPr>
                      </a:pPr>
                      <a:r>
                        <a:t>1</a:t>
                      </a:r>
                    </a:p>
                  </a:txBody>
                  <a:tcPr>
                    <a:solidFill>
                      <a:srgbClr val="F8F9FF"/>
                    </a:solidFill>
                  </a:tcPr>
                </a:tc>
                <a:tc>
                  <a:txBody>
                    <a:bodyPr/>
                    <a:lstStyle/>
                    <a:p>
                      <a:pPr algn="ctr">
                        <a:defRPr sz="1100">
                          <a:solidFill>
                            <a:srgbClr val="2D2D44"/>
                          </a:solidFill>
                          <a:latin typeface="Segoe UI"/>
                        </a:defRPr>
                      </a:pPr>
                      <a:r>
                        <a:t>Pretraining objective &gt; architecture</a:t>
                      </a:r>
                    </a:p>
                  </a:txBody>
                  <a:tcPr>
                    <a:solidFill>
                      <a:srgbClr val="F8F9FF"/>
                    </a:solidFill>
                  </a:tcPr>
                </a:tc>
                <a:tc>
                  <a:txBody>
                    <a:bodyPr/>
                    <a:lstStyle/>
                    <a:p>
                      <a:pPr algn="ctr">
                        <a:defRPr sz="1100">
                          <a:solidFill>
                            <a:srgbClr val="2D2D44"/>
                          </a:solidFill>
                          <a:latin typeface="Segoe UI"/>
                        </a:defRPr>
                      </a:pPr>
                      <a:r>
                        <a:t>Same ViT-S → 43.9% to 94.7% accuracy</a:t>
                      </a:r>
                    </a:p>
                  </a:txBody>
                  <a:tcPr>
                    <a:solidFill>
                      <a:srgbClr val="F8F9FF"/>
                    </a:solidFill>
                  </a:tcPr>
                </a:tc>
                <a:extLst>
                  <a:ext uri="{0D108BD9-81ED-4DB2-BD59-A6C34878D82A}">
                    <a16:rowId xmlns:a16="http://schemas.microsoft.com/office/drawing/2014/main" val="10001"/>
                  </a:ext>
                </a:extLst>
              </a:tr>
              <a:tr h="587828">
                <a:tc>
                  <a:txBody>
                    <a:bodyPr/>
                    <a:lstStyle/>
                    <a:p>
                      <a:pPr algn="l">
                        <a:defRPr sz="1100">
                          <a:solidFill>
                            <a:srgbClr val="2D2D44"/>
                          </a:solidFill>
                          <a:latin typeface="Segoe UI"/>
                        </a:defRPr>
                      </a:pPr>
                      <a:r>
                        <a:t>2</a:t>
                      </a:r>
                    </a:p>
                  </a:txBody>
                  <a:tcPr>
                    <a:solidFill>
                      <a:srgbClr val="FFFFFF"/>
                    </a:solidFill>
                  </a:tcPr>
                </a:tc>
                <a:tc>
                  <a:txBody>
                    <a:bodyPr/>
                    <a:lstStyle/>
                    <a:p>
                      <a:pPr algn="ctr">
                        <a:defRPr sz="1100">
                          <a:solidFill>
                            <a:srgbClr val="2D2D44"/>
                          </a:solidFill>
                          <a:latin typeface="Segoe UI"/>
                        </a:defRPr>
                      </a:pPr>
                      <a:r>
                        <a:t>Self-distillation &gt;&gt; contrastive</a:t>
                      </a:r>
                    </a:p>
                  </a:txBody>
                  <a:tcPr>
                    <a:solidFill>
                      <a:srgbClr val="FFFFFF"/>
                    </a:solidFill>
                  </a:tcPr>
                </a:tc>
                <a:tc>
                  <a:txBody>
                    <a:bodyPr/>
                    <a:lstStyle/>
                    <a:p>
                      <a:pPr algn="ctr">
                        <a:defRPr sz="1100">
                          <a:solidFill>
                            <a:srgbClr val="2D2D44"/>
                          </a:solidFill>
                          <a:latin typeface="Segoe UI"/>
                        </a:defRPr>
                      </a:pPr>
                      <a:r>
                        <a:t>DINO beats MoCo by 50+ pp on kNN</a:t>
                      </a:r>
                    </a:p>
                  </a:txBody>
                  <a:tcPr>
                    <a:solidFill>
                      <a:srgbClr val="FFFFFF"/>
                    </a:solidFill>
                  </a:tcPr>
                </a:tc>
                <a:extLst>
                  <a:ext uri="{0D108BD9-81ED-4DB2-BD59-A6C34878D82A}">
                    <a16:rowId xmlns:a16="http://schemas.microsoft.com/office/drawing/2014/main" val="10002"/>
                  </a:ext>
                </a:extLst>
              </a:tr>
              <a:tr h="587828">
                <a:tc>
                  <a:txBody>
                    <a:bodyPr/>
                    <a:lstStyle/>
                    <a:p>
                      <a:pPr algn="l">
                        <a:defRPr sz="1100">
                          <a:solidFill>
                            <a:srgbClr val="2D2D44"/>
                          </a:solidFill>
                          <a:latin typeface="Segoe UI"/>
                        </a:defRPr>
                      </a:pPr>
                      <a:r>
                        <a:t>3</a:t>
                      </a:r>
                    </a:p>
                  </a:txBody>
                  <a:tcPr>
                    <a:solidFill>
                      <a:srgbClr val="F8F9FF"/>
                    </a:solidFill>
                  </a:tcPr>
                </a:tc>
                <a:tc>
                  <a:txBody>
                    <a:bodyPr/>
                    <a:lstStyle/>
                    <a:p>
                      <a:pPr algn="ctr">
                        <a:defRPr sz="1100">
                          <a:solidFill>
                            <a:srgbClr val="2D2D44"/>
                          </a:solidFill>
                          <a:latin typeface="Segoe UI"/>
                        </a:defRPr>
                      </a:pPr>
                      <a:r>
                        <a:t>DINOv2 matches supervised baselines</a:t>
                      </a:r>
                    </a:p>
                  </a:txBody>
                  <a:tcPr>
                    <a:solidFill>
                      <a:srgbClr val="F8F9FF"/>
                    </a:solidFill>
                  </a:tcPr>
                </a:tc>
                <a:tc>
                  <a:txBody>
                    <a:bodyPr/>
                    <a:lstStyle/>
                    <a:p>
                      <a:pPr algn="ctr">
                        <a:defRPr sz="1100">
                          <a:solidFill>
                            <a:srgbClr val="2D2D44"/>
                          </a:solidFill>
                          <a:latin typeface="Segoe UI"/>
                        </a:defRPr>
                      </a:pPr>
                      <a:r>
                        <a:t>95.1% with 50× fewer labels than ResNet-50</a:t>
                      </a:r>
                    </a:p>
                  </a:txBody>
                  <a:tcPr>
                    <a:solidFill>
                      <a:srgbClr val="F8F9FF"/>
                    </a:solidFill>
                  </a:tcPr>
                </a:tc>
                <a:extLst>
                  <a:ext uri="{0D108BD9-81ED-4DB2-BD59-A6C34878D82A}">
                    <a16:rowId xmlns:a16="http://schemas.microsoft.com/office/drawing/2014/main" val="10003"/>
                  </a:ext>
                </a:extLst>
              </a:tr>
              <a:tr h="587828">
                <a:tc>
                  <a:txBody>
                    <a:bodyPr/>
                    <a:lstStyle/>
                    <a:p>
                      <a:pPr algn="l">
                        <a:defRPr sz="1100">
                          <a:solidFill>
                            <a:srgbClr val="2D2D44"/>
                          </a:solidFill>
                          <a:latin typeface="Segoe UI"/>
                        </a:defRPr>
                      </a:pPr>
                      <a:r>
                        <a:t>4</a:t>
                      </a:r>
                    </a:p>
                  </a:txBody>
                  <a:tcPr>
                    <a:solidFill>
                      <a:srgbClr val="FFFFFF"/>
                    </a:solidFill>
                  </a:tcPr>
                </a:tc>
                <a:tc>
                  <a:txBody>
                    <a:bodyPr/>
                    <a:lstStyle/>
                    <a:p>
                      <a:pPr algn="ctr">
                        <a:defRPr sz="1100">
                          <a:solidFill>
                            <a:srgbClr val="2D2D44"/>
                          </a:solidFill>
                          <a:latin typeface="Segoe UI"/>
                        </a:defRPr>
                      </a:pPr>
                      <a:r>
                        <a:t>Register tokens help at low N</a:t>
                      </a:r>
                    </a:p>
                  </a:txBody>
                  <a:tcPr>
                    <a:solidFill>
                      <a:srgbClr val="FFFFFF"/>
                    </a:solidFill>
                  </a:tcPr>
                </a:tc>
                <a:tc>
                  <a:txBody>
                    <a:bodyPr/>
                    <a:lstStyle/>
                    <a:p>
                      <a:pPr algn="ctr">
                        <a:defRPr sz="1100">
                          <a:solidFill>
                            <a:srgbClr val="2D2D44"/>
                          </a:solidFill>
                          <a:latin typeface="Segoe UI"/>
                        </a:defRPr>
                      </a:pPr>
                      <a:r>
                        <a:t>+2pp at 1-shot, converge at high N</a:t>
                      </a:r>
                    </a:p>
                  </a:txBody>
                  <a:tcPr>
                    <a:solidFill>
                      <a:srgbClr val="FFFFFF"/>
                    </a:solidFill>
                  </a:tcPr>
                </a:tc>
                <a:extLst>
                  <a:ext uri="{0D108BD9-81ED-4DB2-BD59-A6C34878D82A}">
                    <a16:rowId xmlns:a16="http://schemas.microsoft.com/office/drawing/2014/main" val="10004"/>
                  </a:ext>
                </a:extLst>
              </a:tr>
              <a:tr h="587828">
                <a:tc>
                  <a:txBody>
                    <a:bodyPr/>
                    <a:lstStyle/>
                    <a:p>
                      <a:pPr algn="l">
                        <a:defRPr sz="1100">
                          <a:solidFill>
                            <a:srgbClr val="2D2D44"/>
                          </a:solidFill>
                          <a:latin typeface="Segoe UI"/>
                        </a:defRPr>
                      </a:pPr>
                      <a:r>
                        <a:t>5</a:t>
                      </a:r>
                    </a:p>
                  </a:txBody>
                  <a:tcPr>
                    <a:solidFill>
                      <a:srgbClr val="F8F9FF"/>
                    </a:solidFill>
                  </a:tcPr>
                </a:tc>
                <a:tc>
                  <a:txBody>
                    <a:bodyPr/>
                    <a:lstStyle/>
                    <a:p>
                      <a:pPr algn="ctr">
                        <a:defRPr sz="1100">
                          <a:solidFill>
                            <a:srgbClr val="2D2D44"/>
                          </a:solidFill>
                          <a:latin typeface="Segoe UI"/>
                        </a:defRPr>
                      </a:pPr>
                      <a:r>
                        <a:t>Log-linear scaling with N</a:t>
                      </a:r>
                    </a:p>
                  </a:txBody>
                  <a:tcPr>
                    <a:solidFill>
                      <a:srgbClr val="F8F9FF"/>
                    </a:solidFill>
                  </a:tcPr>
                </a:tc>
                <a:tc>
                  <a:txBody>
                    <a:bodyPr/>
                    <a:lstStyle/>
                    <a:p>
                      <a:pPr algn="ctr">
                        <a:defRPr sz="1100">
                          <a:solidFill>
                            <a:srgbClr val="2D2D44"/>
                          </a:solidFill>
                          <a:latin typeface="Segoe UI"/>
                        </a:defRPr>
                      </a:pPr>
                      <a:r>
                        <a:t>Steepest gains 1→10 shots, diminishing after</a:t>
                      </a:r>
                    </a:p>
                  </a:txBody>
                  <a:tcPr>
                    <a:solidFill>
                      <a:srgbClr val="F8F9FF"/>
                    </a:solidFill>
                  </a:tcPr>
                </a:tc>
                <a:extLst>
                  <a:ext uri="{0D108BD9-81ED-4DB2-BD59-A6C34878D82A}">
                    <a16:rowId xmlns:a16="http://schemas.microsoft.com/office/drawing/2014/main" val="10005"/>
                  </a:ext>
                </a:extLst>
              </a:tr>
              <a:tr h="587832">
                <a:tc>
                  <a:txBody>
                    <a:bodyPr/>
                    <a:lstStyle/>
                    <a:p>
                      <a:pPr algn="l">
                        <a:defRPr sz="1100">
                          <a:solidFill>
                            <a:srgbClr val="2D2D44"/>
                          </a:solidFill>
                          <a:latin typeface="Segoe UI"/>
                        </a:defRPr>
                      </a:pPr>
                      <a:r>
                        <a:t>6</a:t>
                      </a:r>
                    </a:p>
                  </a:txBody>
                  <a:tcPr>
                    <a:solidFill>
                      <a:srgbClr val="FFFFFF"/>
                    </a:solidFill>
                  </a:tcPr>
                </a:tc>
                <a:tc>
                  <a:txBody>
                    <a:bodyPr/>
                    <a:lstStyle/>
                    <a:p>
                      <a:pPr algn="ctr">
                        <a:defRPr sz="1100">
                          <a:solidFill>
                            <a:srgbClr val="2D2D44"/>
                          </a:solidFill>
                          <a:latin typeface="Segoe UI"/>
                        </a:defRPr>
                      </a:pPr>
                      <a:r>
                        <a:t>CLS &gt; MeanPool for DINOv1</a:t>
                      </a:r>
                    </a:p>
                  </a:txBody>
                  <a:tcPr>
                    <a:solidFill>
                      <a:srgbClr val="FFFFFF"/>
                    </a:solidFill>
                  </a:tcPr>
                </a:tc>
                <a:tc>
                  <a:txBody>
                    <a:bodyPr/>
                    <a:lstStyle/>
                    <a:p>
                      <a:pPr algn="ctr">
                        <a:defRPr sz="1100">
                          <a:solidFill>
                            <a:srgbClr val="2D2D44"/>
                          </a:solidFill>
                          <a:latin typeface="Segoe UI"/>
                        </a:defRPr>
                      </a:pPr>
                      <a:r>
                        <a:rPr dirty="0"/>
                        <a:t>24pp gap; DINOv2 closes it to 2.6pp</a:t>
                      </a:r>
                    </a:p>
                  </a:txBody>
                  <a:tcPr>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9144000" cy="1005840"/>
          </a:xfrm>
          <a:prstGeom prst="rect">
            <a:avLst/>
          </a:prstGeom>
          <a:noFill/>
        </p:spPr>
        <p:txBody>
          <a:bodyPr wrap="square" lIns="0" tIns="0" rIns="0" bIns="0">
            <a:spAutoFit/>
          </a:bodyPr>
          <a:lstStyle/>
          <a:p>
            <a:pPr>
              <a:defRPr sz="2800" b="1">
                <a:solidFill>
                  <a:srgbClr val="4361EE"/>
                </a:solidFill>
                <a:latin typeface="Segoe UI"/>
              </a:defRPr>
            </a:pPr>
            <a:r>
              <a:t>Limitations &amp; Future Work</a:t>
            </a:r>
          </a:p>
        </p:txBody>
      </p:sp>
      <p:sp>
        <p:nvSpPr>
          <p:cNvPr id="4" name="TextBox 3"/>
          <p:cNvSpPr txBox="1"/>
          <p:nvPr/>
        </p:nvSpPr>
        <p:spPr>
          <a:xfrm>
            <a:off x="731520" y="1645920"/>
            <a:ext cx="5029200" cy="365760"/>
          </a:xfrm>
          <a:prstGeom prst="rect">
            <a:avLst/>
          </a:prstGeom>
          <a:noFill/>
        </p:spPr>
        <p:txBody>
          <a:bodyPr wrap="none">
            <a:spAutoFit/>
          </a:bodyPr>
          <a:lstStyle/>
          <a:p>
            <a:pPr>
              <a:defRPr sz="1800" b="1">
                <a:solidFill>
                  <a:srgbClr val="F5576C"/>
                </a:solidFill>
                <a:latin typeface="Segoe UI"/>
              </a:defRPr>
            </a:pPr>
            <a:r>
              <a:t>Limitations</a:t>
            </a:r>
          </a:p>
        </p:txBody>
      </p:sp>
      <p:sp>
        <p:nvSpPr>
          <p:cNvPr id="5" name="TextBox 4"/>
          <p:cNvSpPr txBox="1"/>
          <p:nvPr/>
        </p:nvSpPr>
        <p:spPr>
          <a:xfrm>
            <a:off x="731520" y="2194560"/>
            <a:ext cx="5029200" cy="3840480"/>
          </a:xfrm>
          <a:prstGeom prst="rect">
            <a:avLst/>
          </a:prstGeom>
          <a:noFill/>
        </p:spPr>
        <p:txBody>
          <a:bodyPr wrap="square" lIns="0" tIns="0" rIns="0" bIns="0">
            <a:spAutoFit/>
          </a:bodyPr>
          <a:lstStyle/>
          <a:p>
            <a:pPr>
              <a:lnSpc>
                <a:spcPct val="120000"/>
              </a:lnSpc>
              <a:spcAft>
                <a:spcPts val="800"/>
              </a:spcAft>
              <a:defRPr sz="1500">
                <a:solidFill>
                  <a:srgbClr val="2D2D44"/>
                </a:solidFill>
                <a:latin typeface="Segoe UI"/>
              </a:defRPr>
            </a:pPr>
            <a:r>
              <a:rPr sz="1500" b="0">
                <a:solidFill>
                  <a:srgbClr val="2D2D44"/>
                </a:solidFill>
                <a:latin typeface="Segoe UI"/>
              </a:rPr>
              <a:t>Only ViT-Small variants evaluated — larger models (ViT-B/L) would likely improve downstream accuracy further.</a:t>
            </a:r>
          </a:p>
          <a:p>
            <a:pPr>
              <a:lnSpc>
                <a:spcPct val="120000"/>
              </a:lnSpc>
              <a:spcAft>
                <a:spcPts val="800"/>
              </a:spcAft>
              <a:defRPr sz="1500">
                <a:solidFill>
                  <a:srgbClr val="2D2D44"/>
                </a:solidFill>
                <a:latin typeface="Segoe UI"/>
              </a:defRPr>
            </a:pPr>
            <a:r>
              <a:rPr sz="1500" b="0">
                <a:solidFill>
                  <a:srgbClr val="2D2D44"/>
                </a:solidFill>
                <a:latin typeface="Segoe UI"/>
              </a:rPr>
              <a:t>Backbones differ in pretraining data (ImageNet-1K vs curated LVD-142M/1689M) — not a fully controlled comparison.</a:t>
            </a:r>
          </a:p>
          <a:p>
            <a:pPr>
              <a:lnSpc>
                <a:spcPct val="120000"/>
              </a:lnSpc>
              <a:spcAft>
                <a:spcPts val="800"/>
              </a:spcAft>
              <a:defRPr sz="1500">
                <a:solidFill>
                  <a:srgbClr val="2D2D44"/>
                </a:solidFill>
                <a:latin typeface="Segoe UI"/>
              </a:defRPr>
            </a:pPr>
            <a:r>
              <a:rPr sz="1500" b="0">
                <a:solidFill>
                  <a:srgbClr val="2D2D44"/>
                </a:solidFill>
                <a:latin typeface="Segoe UI"/>
              </a:rPr>
              <a:t>CIFAR-10/100 images are low-resolution (32×32) — creating a domain gap with the pretraining datasets.</a:t>
            </a:r>
          </a:p>
          <a:p>
            <a:pPr>
              <a:lnSpc>
                <a:spcPct val="120000"/>
              </a:lnSpc>
              <a:spcAft>
                <a:spcPts val="800"/>
              </a:spcAft>
              <a:defRPr sz="1500">
                <a:solidFill>
                  <a:srgbClr val="2D2D44"/>
                </a:solidFill>
                <a:latin typeface="Segoe UI"/>
              </a:defRPr>
            </a:pPr>
            <a:r>
              <a:rPr sz="1500" b="0">
                <a:solidFill>
                  <a:srgbClr val="2D2D44"/>
                </a:solidFill>
                <a:latin typeface="Segoe UI"/>
              </a:rPr>
              <a:t>Fine-tuning and linear probing strategies were not explored.</a:t>
            </a:r>
          </a:p>
        </p:txBody>
      </p:sp>
      <p:sp>
        <p:nvSpPr>
          <p:cNvPr id="6" name="TextBox 5"/>
          <p:cNvSpPr txBox="1"/>
          <p:nvPr/>
        </p:nvSpPr>
        <p:spPr>
          <a:xfrm>
            <a:off x="6400800" y="1645920"/>
            <a:ext cx="5029200" cy="365760"/>
          </a:xfrm>
          <a:prstGeom prst="rect">
            <a:avLst/>
          </a:prstGeom>
          <a:noFill/>
        </p:spPr>
        <p:txBody>
          <a:bodyPr wrap="none">
            <a:spAutoFit/>
          </a:bodyPr>
          <a:lstStyle/>
          <a:p>
            <a:pPr>
              <a:defRPr sz="1800" b="1">
                <a:solidFill>
                  <a:srgbClr val="11998E"/>
                </a:solidFill>
                <a:latin typeface="Segoe UI"/>
              </a:defRPr>
            </a:pPr>
            <a:r>
              <a:t>Future Work</a:t>
            </a:r>
          </a:p>
        </p:txBody>
      </p:sp>
      <p:sp>
        <p:nvSpPr>
          <p:cNvPr id="7" name="TextBox 6"/>
          <p:cNvSpPr txBox="1"/>
          <p:nvPr/>
        </p:nvSpPr>
        <p:spPr>
          <a:xfrm>
            <a:off x="6400800" y="2194560"/>
            <a:ext cx="5029200" cy="3840480"/>
          </a:xfrm>
          <a:prstGeom prst="rect">
            <a:avLst/>
          </a:prstGeom>
          <a:noFill/>
        </p:spPr>
        <p:txBody>
          <a:bodyPr wrap="square" lIns="0" tIns="0" rIns="0" bIns="0">
            <a:spAutoFit/>
          </a:bodyPr>
          <a:lstStyle/>
          <a:p>
            <a:pPr>
              <a:lnSpc>
                <a:spcPct val="120000"/>
              </a:lnSpc>
              <a:spcAft>
                <a:spcPts val="800"/>
              </a:spcAft>
              <a:defRPr sz="1500">
                <a:solidFill>
                  <a:srgbClr val="2D2D44"/>
                </a:solidFill>
                <a:latin typeface="Segoe UI"/>
              </a:defRPr>
            </a:pPr>
            <a:r>
              <a:rPr sz="1500" b="0">
                <a:solidFill>
                  <a:srgbClr val="2D2D44"/>
                </a:solidFill>
                <a:latin typeface="Segoe UI"/>
              </a:rPr>
              <a:t>Evaluate ViT-Base, ViT-Large, and CLIP-based models.</a:t>
            </a:r>
          </a:p>
          <a:p>
            <a:pPr>
              <a:lnSpc>
                <a:spcPct val="120000"/>
              </a:lnSpc>
              <a:spcAft>
                <a:spcPts val="800"/>
              </a:spcAft>
              <a:defRPr sz="1500">
                <a:solidFill>
                  <a:srgbClr val="2D2D44"/>
                </a:solidFill>
                <a:latin typeface="Segoe UI"/>
              </a:defRPr>
            </a:pPr>
            <a:r>
              <a:rPr sz="1500" b="0">
                <a:solidFill>
                  <a:srgbClr val="2D2D44"/>
                </a:solidFill>
                <a:latin typeface="Segoe UI"/>
              </a:rPr>
              <a:t>Test on mini-ImageNet, CUB-200, and EuroSAT datasets.</a:t>
            </a:r>
          </a:p>
          <a:p>
            <a:pPr>
              <a:lnSpc>
                <a:spcPct val="120000"/>
              </a:lnSpc>
              <a:spcAft>
                <a:spcPts val="800"/>
              </a:spcAft>
              <a:defRPr sz="1500">
                <a:solidFill>
                  <a:srgbClr val="2D2D44"/>
                </a:solidFill>
                <a:latin typeface="Segoe UI"/>
              </a:defRPr>
            </a:pPr>
            <a:r>
              <a:rPr sz="1500" b="0">
                <a:solidFill>
                  <a:srgbClr val="2D2D44"/>
                </a:solidFill>
                <a:latin typeface="Segoe UI"/>
              </a:rPr>
              <a:t>Explore concatenating CLS and MeanPool features.</a:t>
            </a:r>
          </a:p>
          <a:p>
            <a:pPr>
              <a:lnSpc>
                <a:spcPct val="120000"/>
              </a:lnSpc>
              <a:spcAft>
                <a:spcPts val="800"/>
              </a:spcAft>
              <a:defRPr sz="1500">
                <a:solidFill>
                  <a:srgbClr val="2D2D44"/>
                </a:solidFill>
                <a:latin typeface="Segoe UI"/>
              </a:defRPr>
            </a:pPr>
            <a:r>
              <a:rPr sz="1500" b="0">
                <a:solidFill>
                  <a:srgbClr val="2D2D44"/>
                </a:solidFill>
                <a:latin typeface="Segoe UI"/>
              </a:rPr>
              <a:t>Compare kNN performance directly against linear probing and full fine-tuning.</a:t>
            </a:r>
          </a:p>
          <a:p>
            <a:pPr>
              <a:lnSpc>
                <a:spcPct val="120000"/>
              </a:lnSpc>
              <a:spcAft>
                <a:spcPts val="800"/>
              </a:spcAft>
              <a:defRPr sz="1500">
                <a:solidFill>
                  <a:srgbClr val="2D2D44"/>
                </a:solidFill>
                <a:latin typeface="Segoe UI"/>
              </a:defRPr>
            </a:pPr>
            <a:r>
              <a:rPr sz="1500" b="0">
                <a:solidFill>
                  <a:srgbClr val="2D2D44"/>
                </a:solidFill>
                <a:latin typeface="Segoe UI"/>
              </a:rPr>
              <a:t>Explore adapter layers for minimal parameter fine-tuning.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1998E"/>
        </a:solidFill>
        <a:effectLst/>
      </p:bgPr>
    </p:bg>
    <p:spTree>
      <p:nvGrpSpPr>
        <p:cNvPr id="1" name=""/>
        <p:cNvGrpSpPr/>
        <p:nvPr/>
      </p:nvGrpSpPr>
      <p:grpSpPr>
        <a:xfrm>
          <a:off x="0" y="0"/>
          <a:ext cx="0" cy="0"/>
          <a:chOff x="0" y="0"/>
          <a:chExt cx="0" cy="0"/>
        </a:xfrm>
      </p:grpSpPr>
      <p:sp>
        <p:nvSpPr>
          <p:cNvPr id="2" name="TextBox 1"/>
          <p:cNvSpPr txBox="1"/>
          <p:nvPr/>
        </p:nvSpPr>
        <p:spPr>
          <a:xfrm>
            <a:off x="731520" y="731520"/>
            <a:ext cx="10698480" cy="731520"/>
          </a:xfrm>
          <a:prstGeom prst="rect">
            <a:avLst/>
          </a:prstGeom>
          <a:noFill/>
        </p:spPr>
        <p:txBody>
          <a:bodyPr wrap="none">
            <a:spAutoFit/>
          </a:bodyPr>
          <a:lstStyle/>
          <a:p>
            <a:pPr algn="ctr">
              <a:defRPr sz="3600" b="1">
                <a:solidFill>
                  <a:srgbClr val="FFFFFF"/>
                </a:solidFill>
                <a:latin typeface="Segoe UI"/>
              </a:defRPr>
            </a:pPr>
            <a:r>
              <a:t>Conclusion</a:t>
            </a:r>
          </a:p>
        </p:txBody>
      </p:sp>
      <p:sp>
        <p:nvSpPr>
          <p:cNvPr id="3" name="Rounded Rectangle 2"/>
          <p:cNvSpPr/>
          <p:nvPr/>
        </p:nvSpPr>
        <p:spPr>
          <a:xfrm>
            <a:off x="1463040" y="1645920"/>
            <a:ext cx="9262872" cy="3657600"/>
          </a:xfrm>
          <a:prstGeom prst="roundRect">
            <a:avLst/>
          </a:prstGeom>
          <a:solidFill>
            <a:srgbClr val="FFFFFF"/>
          </a:solidFill>
          <a:ln w="19050">
            <a:solidFill>
              <a:srgbClr val="11998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2011680"/>
            <a:ext cx="8531352" cy="2926080"/>
          </a:xfrm>
          <a:prstGeom prst="rect">
            <a:avLst/>
          </a:prstGeom>
          <a:noFill/>
        </p:spPr>
        <p:txBody>
          <a:bodyPr wrap="square" lIns="0" tIns="0" rIns="0" bIns="0">
            <a:spAutoFit/>
          </a:bodyPr>
          <a:lstStyle/>
          <a:p>
            <a:pPr>
              <a:lnSpc>
                <a:spcPct val="120000"/>
              </a:lnSpc>
              <a:spcAft>
                <a:spcPts val="800"/>
              </a:spcAft>
              <a:defRPr sz="1700">
                <a:solidFill>
                  <a:srgbClr val="2D2D44"/>
                </a:solidFill>
                <a:latin typeface="Segoe UI"/>
              </a:defRPr>
            </a:pPr>
            <a:r>
              <a:rPr sz="1700" b="1">
                <a:solidFill>
                  <a:srgbClr val="2D2D44"/>
                </a:solidFill>
                <a:latin typeface="Segoe UI"/>
              </a:rPr>
              <a:t>Frozen SSL ViT-S + kNN</a:t>
            </a:r>
            <a:r>
              <a:rPr sz="1700" b="0">
                <a:solidFill>
                  <a:srgbClr val="2D2D44"/>
                </a:solidFill>
                <a:latin typeface="Segoe UI"/>
              </a:rPr>
              <a:t> achieves </a:t>
            </a:r>
            <a:r>
              <a:rPr sz="1700" b="1">
                <a:solidFill>
                  <a:srgbClr val="2D2D44"/>
                </a:solidFill>
                <a:latin typeface="Segoe UI"/>
              </a:rPr>
              <a:t>95.1% on CIFAR-10</a:t>
            </a:r>
            <a:r>
              <a:rPr sz="1700" b="0">
                <a:solidFill>
                  <a:srgbClr val="2D2D44"/>
                </a:solidFill>
                <a:latin typeface="Segoe UI"/>
              </a:rPr>
              <a:t> and </a:t>
            </a:r>
            <a:r>
              <a:rPr sz="1700" b="1">
                <a:solidFill>
                  <a:srgbClr val="2D2D44"/>
                </a:solidFill>
                <a:latin typeface="Segoe UI"/>
              </a:rPr>
              <a:t>82.0% on CIFAR-100</a:t>
            </a:r>
            <a:r>
              <a:rPr sz="1700" b="0">
                <a:solidFill>
                  <a:srgbClr val="2D2D44"/>
                </a:solidFill>
                <a:latin typeface="Segoe UI"/>
              </a:rPr>
              <a:t> with only 100 labels/class.</a:t>
            </a:r>
          </a:p>
          <a:p>
            <a:pPr>
              <a:lnSpc>
                <a:spcPct val="120000"/>
              </a:lnSpc>
              <a:spcAft>
                <a:spcPts val="800"/>
              </a:spcAft>
              <a:defRPr sz="1700">
                <a:solidFill>
                  <a:srgbClr val="2D2D44"/>
                </a:solidFill>
                <a:latin typeface="Segoe UI"/>
              </a:defRPr>
            </a:pPr>
            <a:r>
              <a:rPr sz="1700" b="0">
                <a:solidFill>
                  <a:srgbClr val="2D2D44"/>
                </a:solidFill>
                <a:latin typeface="Segoe UI"/>
              </a:rPr>
              <a:t>The </a:t>
            </a:r>
            <a:r>
              <a:rPr sz="1700" b="1">
                <a:solidFill>
                  <a:srgbClr val="2D2D44"/>
                </a:solidFill>
                <a:latin typeface="Segoe UI"/>
              </a:rPr>
              <a:t>pretraining objective</a:t>
            </a:r>
            <a:r>
              <a:rPr sz="1700" b="0">
                <a:solidFill>
                  <a:srgbClr val="2D2D44"/>
                </a:solidFill>
                <a:latin typeface="Segoe UI"/>
              </a:rPr>
              <a:t> — not model size — determines downstream kNN quality.</a:t>
            </a:r>
          </a:p>
          <a:p>
            <a:pPr>
              <a:lnSpc>
                <a:spcPct val="120000"/>
              </a:lnSpc>
              <a:spcAft>
                <a:spcPts val="800"/>
              </a:spcAft>
              <a:defRPr sz="1700">
                <a:solidFill>
                  <a:srgbClr val="2D2D44"/>
                </a:solidFill>
                <a:latin typeface="Segoe UI"/>
              </a:defRPr>
            </a:pPr>
            <a:r>
              <a:rPr sz="1700" b="0">
                <a:solidFill>
                  <a:srgbClr val="2D2D44"/>
                </a:solidFill>
                <a:latin typeface="Segoe UI"/>
              </a:rPr>
              <a:t>Self-distillation (DINO family) produces </a:t>
            </a:r>
            <a:r>
              <a:rPr sz="1700" b="1">
                <a:solidFill>
                  <a:srgbClr val="2D2D44"/>
                </a:solidFill>
                <a:latin typeface="Segoe UI"/>
              </a:rPr>
              <a:t>semantically clustered</a:t>
            </a:r>
            <a:r>
              <a:rPr sz="1700" b="0">
                <a:solidFill>
                  <a:srgbClr val="2D2D44"/>
                </a:solidFill>
                <a:latin typeface="Segoe UI"/>
              </a:rPr>
              <a:t> features ideal for non-parametric retrieval.</a:t>
            </a:r>
          </a:p>
          <a:p>
            <a:pPr>
              <a:lnSpc>
                <a:spcPct val="120000"/>
              </a:lnSpc>
              <a:spcAft>
                <a:spcPts val="800"/>
              </a:spcAft>
              <a:defRPr sz="1700">
                <a:solidFill>
                  <a:srgbClr val="2D2D44"/>
                </a:solidFill>
                <a:latin typeface="Segoe UI"/>
              </a:defRPr>
            </a:pPr>
            <a:r>
              <a:rPr sz="1700" b="0">
                <a:solidFill>
                  <a:srgbClr val="2D2D44"/>
                </a:solidFill>
                <a:latin typeface="Segoe UI"/>
              </a:rPr>
              <a:t>Modern SSL makes </a:t>
            </a:r>
            <a:r>
              <a:rPr sz="1700" b="1">
                <a:solidFill>
                  <a:srgbClr val="2D2D44"/>
                </a:solidFill>
                <a:latin typeface="Segoe UI"/>
              </a:rPr>
              <a:t>labelling-efficient classification</a:t>
            </a:r>
            <a:r>
              <a:rPr sz="1700" b="0">
                <a:solidFill>
                  <a:srgbClr val="2D2D44"/>
                </a:solidFill>
                <a:latin typeface="Segoe UI"/>
              </a:rPr>
              <a:t> practical today.</a:t>
            </a:r>
          </a:p>
        </p:txBody>
      </p:sp>
      <p:sp>
        <p:nvSpPr>
          <p:cNvPr id="5" name="TextBox 4"/>
          <p:cNvSpPr txBox="1"/>
          <p:nvPr/>
        </p:nvSpPr>
        <p:spPr>
          <a:xfrm>
            <a:off x="2190464" y="5577840"/>
            <a:ext cx="7780592" cy="307777"/>
          </a:xfrm>
          <a:prstGeom prst="rect">
            <a:avLst/>
          </a:prstGeom>
          <a:noFill/>
        </p:spPr>
        <p:txBody>
          <a:bodyPr wrap="none">
            <a:spAutoFit/>
          </a:bodyPr>
          <a:lstStyle/>
          <a:p>
            <a:pPr algn="ctr">
              <a:defRPr sz="1400" b="1">
                <a:solidFill>
                  <a:srgbClr val="FFFFFF"/>
                </a:solidFill>
                <a:latin typeface="Segoe UI"/>
              </a:defRPr>
            </a:pPr>
            <a:r>
              <a:rPr dirty="0"/>
              <a:t>🔗 Repository: </a:t>
            </a:r>
            <a:r>
              <a:rPr lang="en-US" dirty="0"/>
              <a:t>https://github.com/kostismatz/ssl-knn-fewshot</a:t>
            </a:r>
            <a:r>
              <a:rPr dirty="0"/>
              <a:t>   |   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3036</Words>
  <Application>Microsoft Office PowerPoint</Application>
  <PresentationFormat>Widescreen</PresentationFormat>
  <Paragraphs>305</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Spiros Batziopoulos</cp:lastModifiedBy>
  <cp:revision>4</cp:revision>
  <dcterms:created xsi:type="dcterms:W3CDTF">2013-01-27T09:14:16Z</dcterms:created>
  <dcterms:modified xsi:type="dcterms:W3CDTF">2026-06-21T13:29:27Z</dcterms:modified>
  <cp:category/>
</cp:coreProperties>
</file>